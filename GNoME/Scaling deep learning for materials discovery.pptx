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4" autoAdjust="0"/>
    <p:restoredTop sz="68242" autoAdjust="0"/>
  </p:normalViewPr>
  <p:slideViewPr>
    <p:cSldViewPr snapToGrid="0">
      <p:cViewPr varScale="1">
        <p:scale>
          <a:sx n="72" d="100"/>
          <a:sy n="72" d="100"/>
        </p:scale>
        <p:origin x="181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EC3E1-E7B9-4378-8683-9E29022EB1A0}" type="datetimeFigureOut">
              <a:rPr lang="zh-TW" altLang="en-US" smtClean="0"/>
              <a:t>2025/9/22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A7B55A-3D95-4A03-B612-CCE10A1542C0}" type="slidenum">
              <a:rPr lang="zh-TW" altLang="en-US" smtClean="0"/>
              <a:t>‹#›</a:t>
            </a:fld>
            <a:endParaRPr lang="zh-TW" altLang="en-US"/>
          </a:p>
        </p:txBody>
      </p:sp>
    </p:spTree>
    <p:extLst>
      <p:ext uri="{BB962C8B-B14F-4D97-AF65-F5344CB8AC3E}">
        <p14:creationId xmlns:p14="http://schemas.microsoft.com/office/powerpoint/2010/main" val="1522510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a:t>圖 </a:t>
            </a:r>
            <a:r>
              <a:rPr lang="en-US" altLang="zh-TW" b="1" dirty="0"/>
              <a:t>a. </a:t>
            </a:r>
            <a:r>
              <a:rPr lang="zh-TW" altLang="en-US" b="1" dirty="0"/>
              <a:t>穩定材料的元素數量分佈</a:t>
            </a:r>
            <a:endParaRPr lang="zh-TW" altLang="en-US" dirty="0"/>
          </a:p>
          <a:p>
            <a:pPr>
              <a:buFont typeface="Arial" panose="020B0604020202020204" pitchFamily="34" charset="0"/>
              <a:buNone/>
            </a:pPr>
            <a:r>
              <a:rPr lang="zh-TW" altLang="en-US" b="1" dirty="0"/>
              <a:t>橫軸</a:t>
            </a:r>
            <a:r>
              <a:rPr lang="zh-TW" altLang="en-US" dirty="0"/>
              <a:t>是材料所含的獨特元素數量，</a:t>
            </a:r>
            <a:r>
              <a:rPr lang="zh-TW" altLang="en-US" b="1" dirty="0"/>
              <a:t>縱軸</a:t>
            </a:r>
            <a:r>
              <a:rPr lang="zh-TW" altLang="en-US" dirty="0"/>
              <a:t>是穩定晶體的數量（對數座標）。</a:t>
            </a:r>
          </a:p>
          <a:p>
            <a:pPr>
              <a:buFont typeface="Arial" panose="020B0604020202020204" pitchFamily="34" charset="0"/>
              <a:buNone/>
            </a:pPr>
            <a:r>
              <a:rPr lang="zh-TW" altLang="en-US" dirty="0"/>
              <a:t>它顯示了 </a:t>
            </a:r>
            <a:r>
              <a:rPr lang="en-US" altLang="zh-TW" dirty="0" err="1"/>
              <a:t>GNoME</a:t>
            </a:r>
            <a:r>
              <a:rPr lang="en-US" altLang="zh-TW" dirty="0"/>
              <a:t> (</a:t>
            </a:r>
            <a:r>
              <a:rPr lang="zh-TW" altLang="en-US" dirty="0"/>
              <a:t>紫色</a:t>
            </a:r>
            <a:r>
              <a:rPr lang="en-US" altLang="zh-TW" dirty="0"/>
              <a:t>) </a:t>
            </a:r>
            <a:r>
              <a:rPr lang="zh-TW" altLang="en-US" dirty="0"/>
              <a:t>在各類元素組合中都做出了巨大貢獻，尤其是在 </a:t>
            </a:r>
            <a:r>
              <a:rPr lang="en-US" altLang="zh-TW" b="1" dirty="0"/>
              <a:t>4 </a:t>
            </a:r>
            <a:r>
              <a:rPr lang="zh-TW" altLang="en-US" b="1" dirty="0"/>
              <a:t>種和 </a:t>
            </a:r>
            <a:r>
              <a:rPr lang="en-US" altLang="zh-TW" b="1" dirty="0"/>
              <a:t>5 </a:t>
            </a:r>
            <a:r>
              <a:rPr lang="zh-TW" altLang="en-US" b="1" dirty="0"/>
              <a:t>種元素</a:t>
            </a:r>
            <a:r>
              <a:rPr lang="zh-TW" altLang="en-US" dirty="0"/>
              <a:t>的複雜材料上，其發現的數量遠遠超過了過去的總和 </a:t>
            </a:r>
            <a:r>
              <a:rPr lang="en-US" altLang="zh-TW" dirty="0"/>
              <a:t>(</a:t>
            </a:r>
            <a:r>
              <a:rPr lang="zh-TW" altLang="en-US" dirty="0"/>
              <a:t>藍色</a:t>
            </a:r>
            <a:r>
              <a:rPr lang="en-US" altLang="zh-TW" dirty="0"/>
              <a:t>)</a:t>
            </a:r>
            <a:r>
              <a:rPr lang="zh-TW" altLang="en-US" dirty="0"/>
              <a:t>。</a:t>
            </a:r>
          </a:p>
          <a:p>
            <a:r>
              <a:rPr lang="zh-TW" altLang="en-US" b="1" dirty="0"/>
              <a:t>圖 </a:t>
            </a:r>
            <a:r>
              <a:rPr lang="en-US" altLang="zh-TW" b="1" dirty="0"/>
              <a:t>b. </a:t>
            </a:r>
            <a:r>
              <a:rPr lang="zh-TW" altLang="en-US" b="1" dirty="0"/>
              <a:t>四元材料的穩定性分佈</a:t>
            </a:r>
            <a:endParaRPr lang="zh-TW" altLang="en-US" dirty="0"/>
          </a:p>
          <a:p>
            <a:pPr>
              <a:buFont typeface="Arial" panose="020B0604020202020204" pitchFamily="34" charset="0"/>
              <a:buNone/>
            </a:pPr>
            <a:r>
              <a:rPr lang="zh-TW" altLang="en-US" b="1" dirty="0"/>
              <a:t>橫軸</a:t>
            </a:r>
            <a:r>
              <a:rPr lang="zh-TW" altLang="en-US" dirty="0"/>
              <a:t>是材料的相分離能 </a:t>
            </a:r>
            <a:r>
              <a:rPr lang="en-US" altLang="zh-TW" dirty="0"/>
              <a:t>(Phase-separation energy)</a:t>
            </a:r>
            <a:r>
              <a:rPr lang="zh-TW" altLang="en-US" dirty="0"/>
              <a:t>，</a:t>
            </a:r>
            <a:r>
              <a:rPr lang="zh-TW" altLang="en-US" b="1" dirty="0"/>
              <a:t>越負代表越穩定</a:t>
            </a:r>
            <a:r>
              <a:rPr lang="zh-TW" altLang="en-US" dirty="0"/>
              <a:t>。</a:t>
            </a:r>
            <a:r>
              <a:rPr lang="zh-TW" altLang="en-US" b="1" dirty="0"/>
              <a:t>縱軸</a:t>
            </a:r>
            <a:r>
              <a:rPr lang="zh-TW" altLang="en-US" dirty="0"/>
              <a:t>是四元材料的數量。</a:t>
            </a:r>
          </a:p>
          <a:p>
            <a:pPr>
              <a:buFont typeface="Arial" panose="020B0604020202020204" pitchFamily="34" charset="0"/>
              <a:buNone/>
            </a:pPr>
            <a:r>
              <a:rPr lang="zh-TW" altLang="en-US" dirty="0"/>
              <a:t>圖中 </a:t>
            </a:r>
            <a:r>
              <a:rPr lang="en-US" altLang="zh-TW" dirty="0" err="1"/>
              <a:t>GNoME</a:t>
            </a:r>
            <a:r>
              <a:rPr lang="en-US" altLang="zh-TW" dirty="0"/>
              <a:t> (</a:t>
            </a:r>
            <a:r>
              <a:rPr lang="zh-TW" altLang="en-US" dirty="0"/>
              <a:t>紫色線</a:t>
            </a:r>
            <a:r>
              <a:rPr lang="en-US" altLang="zh-TW" dirty="0"/>
              <a:t>) </a:t>
            </a:r>
            <a:r>
              <a:rPr lang="zh-TW" altLang="en-US" dirty="0"/>
              <a:t>和 </a:t>
            </a:r>
            <a:r>
              <a:rPr lang="en-US" altLang="zh-TW" dirty="0"/>
              <a:t>Materials Project (</a:t>
            </a:r>
            <a:r>
              <a:rPr lang="zh-TW" altLang="en-US" dirty="0"/>
              <a:t>藍色線</a:t>
            </a:r>
            <a:r>
              <a:rPr lang="en-US" altLang="zh-TW" dirty="0"/>
              <a:t>) </a:t>
            </a:r>
            <a:r>
              <a:rPr lang="zh-TW" altLang="en-US" dirty="0"/>
              <a:t>的分佈形狀相似，但 </a:t>
            </a:r>
            <a:r>
              <a:rPr lang="en-US" altLang="zh-TW" dirty="0" err="1"/>
              <a:t>GNoME</a:t>
            </a:r>
            <a:r>
              <a:rPr lang="en-US" altLang="zh-TW" dirty="0"/>
              <a:t> </a:t>
            </a:r>
            <a:r>
              <a:rPr lang="zh-TW" altLang="en-US" dirty="0"/>
              <a:t>的數量級遠高於後者。這說明 </a:t>
            </a:r>
            <a:r>
              <a:rPr lang="en-US" altLang="zh-TW" dirty="0" err="1"/>
              <a:t>GNoME</a:t>
            </a:r>
            <a:r>
              <a:rPr lang="en-US" altLang="zh-TW" dirty="0"/>
              <a:t> </a:t>
            </a:r>
            <a:r>
              <a:rPr lang="zh-TW" altLang="en-US" dirty="0"/>
              <a:t>並非只找到一堆勉強穩定的材料，而是發現了大量</a:t>
            </a:r>
            <a:r>
              <a:rPr lang="zh-TW" altLang="en-US" b="1" dirty="0"/>
              <a:t>具有顯著穩定性</a:t>
            </a:r>
            <a:r>
              <a:rPr lang="zh-TW" altLang="en-US" dirty="0"/>
              <a:t>的新材料，其穩定性分佈與已知材料相似。</a:t>
            </a:r>
          </a:p>
          <a:p>
            <a:endParaRPr lang="zh-TW" altLang="en-US" dirty="0"/>
          </a:p>
        </p:txBody>
      </p:sp>
      <p:sp>
        <p:nvSpPr>
          <p:cNvPr id="4" name="投影片編號版面配置區 3"/>
          <p:cNvSpPr>
            <a:spLocks noGrp="1"/>
          </p:cNvSpPr>
          <p:nvPr>
            <p:ph type="sldNum" sz="quarter" idx="5"/>
          </p:nvPr>
        </p:nvSpPr>
        <p:spPr/>
        <p:txBody>
          <a:bodyPr/>
          <a:lstStyle/>
          <a:p>
            <a:fld id="{89A7B55A-3D95-4A03-B612-CCE10A1542C0}" type="slidenum">
              <a:rPr lang="zh-TW" altLang="en-US" smtClean="0"/>
              <a:t>3</a:t>
            </a:fld>
            <a:endParaRPr lang="zh-TW" altLang="en-US"/>
          </a:p>
        </p:txBody>
      </p:sp>
    </p:spTree>
    <p:extLst>
      <p:ext uri="{BB962C8B-B14F-4D97-AF65-F5344CB8AC3E}">
        <p14:creationId xmlns:p14="http://schemas.microsoft.com/office/powerpoint/2010/main" val="1447568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a:t>圖 </a:t>
            </a:r>
            <a:r>
              <a:rPr lang="en-US" altLang="zh-TW" b="1" dirty="0"/>
              <a:t>c. </a:t>
            </a:r>
            <a:r>
              <a:rPr lang="zh-TW" altLang="en-US" b="1" dirty="0"/>
              <a:t>不同結構原型的數量 </a:t>
            </a:r>
            <a:r>
              <a:rPr lang="zh-TW" altLang="en-US" dirty="0"/>
              <a:t>這張圖統計的不是材料總數，而是</a:t>
            </a:r>
            <a:r>
              <a:rPr lang="zh-TW" altLang="en-US" b="1" dirty="0"/>
              <a:t>獨特的晶體結構原型 </a:t>
            </a:r>
            <a:r>
              <a:rPr lang="en-US" altLang="zh-TW" b="1" dirty="0"/>
              <a:t>(Distinct prototypes)</a:t>
            </a:r>
            <a:r>
              <a:rPr lang="zh-TW" altLang="en-US" dirty="0"/>
              <a:t> 數量，用來衡量發現的</a:t>
            </a:r>
            <a:r>
              <a:rPr lang="zh-TW" altLang="en-US" b="1" dirty="0"/>
              <a:t>新穎性</a:t>
            </a:r>
            <a:r>
              <a:rPr lang="zh-TW" altLang="en-US" dirty="0"/>
              <a:t>。</a:t>
            </a:r>
          </a:p>
          <a:p>
            <a:pPr>
              <a:buFont typeface="Arial" panose="020B0604020202020204" pitchFamily="34" charset="0"/>
              <a:buNone/>
            </a:pPr>
            <a:r>
              <a:rPr lang="zh-TW" altLang="en-US" dirty="0"/>
              <a:t>結果顯示 </a:t>
            </a:r>
            <a:r>
              <a:rPr lang="en-US" altLang="zh-TW" dirty="0" err="1"/>
              <a:t>GNoME</a:t>
            </a:r>
            <a:r>
              <a:rPr lang="en-US" altLang="zh-TW" dirty="0"/>
              <a:t> (</a:t>
            </a:r>
            <a:r>
              <a:rPr lang="zh-TW" altLang="en-US" dirty="0"/>
              <a:t>紫色</a:t>
            </a:r>
            <a:r>
              <a:rPr lang="en-US" altLang="zh-TW" dirty="0"/>
              <a:t>) </a:t>
            </a:r>
            <a:r>
              <a:rPr lang="zh-TW" altLang="en-US" dirty="0"/>
              <a:t>發現了大量全新的結構原型，尤其在 </a:t>
            </a:r>
            <a:r>
              <a:rPr lang="en-US" altLang="zh-TW" dirty="0"/>
              <a:t>4 </a:t>
            </a:r>
            <a:r>
              <a:rPr lang="zh-TW" altLang="en-US" dirty="0"/>
              <a:t>元和 </a:t>
            </a:r>
            <a:r>
              <a:rPr lang="en-US" altLang="zh-TW" dirty="0"/>
              <a:t>5 </a:t>
            </a:r>
            <a:r>
              <a:rPr lang="zh-TW" altLang="en-US" dirty="0"/>
              <a:t>元材料中貢獻最為顯著，證明了其探索到許多前所未見的結構。</a:t>
            </a:r>
          </a:p>
          <a:p>
            <a:r>
              <a:rPr lang="zh-TW" altLang="en-US" b="1" dirty="0"/>
              <a:t>圖 </a:t>
            </a:r>
            <a:r>
              <a:rPr lang="en-US" altLang="zh-TW" b="1" dirty="0"/>
              <a:t>d. </a:t>
            </a:r>
            <a:r>
              <a:rPr lang="zh-TW" altLang="en-US" b="1" dirty="0"/>
              <a:t>計算方法的驗證 </a:t>
            </a:r>
            <a:r>
              <a:rPr lang="en-US" altLang="zh-TW" b="1" dirty="0"/>
              <a:t>(r²SCAN vs. PBE)</a:t>
            </a:r>
            <a:r>
              <a:rPr lang="zh-TW" altLang="en-US" b="1" dirty="0"/>
              <a:t>  </a:t>
            </a:r>
            <a:r>
              <a:rPr lang="zh-TW" altLang="en-US" dirty="0"/>
              <a:t>這是一張</a:t>
            </a:r>
            <a:r>
              <a:rPr lang="zh-TW" altLang="en-US" b="1" dirty="0"/>
              <a:t>驗證圖</a:t>
            </a:r>
            <a:r>
              <a:rPr lang="zh-TW" altLang="en-US" dirty="0"/>
              <a:t>，用來檢驗研究成果的可靠性。</a:t>
            </a:r>
          </a:p>
          <a:p>
            <a:pPr>
              <a:buFont typeface="Arial" panose="020B0604020202020204" pitchFamily="34" charset="0"/>
              <a:buNone/>
            </a:pPr>
            <a:r>
              <a:rPr lang="zh-TW" altLang="en-US" dirty="0"/>
              <a:t>研究中大規模搜索用的是計算速度較快的 </a:t>
            </a:r>
            <a:r>
              <a:rPr lang="en-US" altLang="zh-TW" dirty="0"/>
              <a:t>PBE </a:t>
            </a:r>
            <a:r>
              <a:rPr lang="zh-TW" altLang="en-US" dirty="0"/>
              <a:t>方法 </a:t>
            </a:r>
            <a:r>
              <a:rPr lang="en-US" altLang="zh-TW" dirty="0"/>
              <a:t>(</a:t>
            </a:r>
            <a:r>
              <a:rPr lang="zh-TW" altLang="en-US" dirty="0"/>
              <a:t>橫軸</a:t>
            </a:r>
            <a:r>
              <a:rPr lang="en-US" altLang="zh-TW" dirty="0"/>
              <a:t>)</a:t>
            </a:r>
            <a:r>
              <a:rPr lang="zh-TW" altLang="en-US" dirty="0"/>
              <a:t>，為了驗證，作者挑選部分材料用更精確但更昂貴的 </a:t>
            </a:r>
            <a:r>
              <a:rPr lang="en-US" altLang="zh-TW" dirty="0"/>
              <a:t>r²SCAN </a:t>
            </a:r>
            <a:r>
              <a:rPr lang="zh-TW" altLang="en-US" dirty="0"/>
              <a:t>方法 </a:t>
            </a:r>
            <a:r>
              <a:rPr lang="en-US" altLang="zh-TW" dirty="0"/>
              <a:t>(</a:t>
            </a:r>
            <a:r>
              <a:rPr lang="zh-TW" altLang="en-US" dirty="0"/>
              <a:t>縱軸</a:t>
            </a:r>
            <a:r>
              <a:rPr lang="en-US" altLang="zh-TW" dirty="0"/>
              <a:t>) </a:t>
            </a:r>
            <a:r>
              <a:rPr lang="zh-TW" altLang="en-US" dirty="0"/>
              <a:t>重新計算。</a:t>
            </a:r>
          </a:p>
          <a:p>
            <a:pPr>
              <a:buFont typeface="Arial" panose="020B0604020202020204" pitchFamily="34" charset="0"/>
              <a:buNone/>
            </a:pPr>
            <a:r>
              <a:rPr lang="zh-TW" altLang="en-US" dirty="0"/>
              <a:t>結果顯示，有 </a:t>
            </a:r>
            <a:r>
              <a:rPr lang="en-US" altLang="zh-TW" b="1" dirty="0"/>
              <a:t>84%</a:t>
            </a:r>
            <a:r>
              <a:rPr lang="zh-TW" altLang="en-US" dirty="0"/>
              <a:t> 的材料在使用更精確的方法計算後，依然是穩定的 </a:t>
            </a:r>
            <a:r>
              <a:rPr lang="en-US" altLang="zh-TW" dirty="0"/>
              <a:t>(</a:t>
            </a:r>
            <a:r>
              <a:rPr lang="zh-TW" altLang="en-US" dirty="0"/>
              <a:t>落在 </a:t>
            </a:r>
            <a:r>
              <a:rPr lang="en-US" altLang="zh-TW" dirty="0"/>
              <a:t>y=0 </a:t>
            </a:r>
            <a:r>
              <a:rPr lang="zh-TW" altLang="en-US" dirty="0"/>
              <a:t>的虛線下方</a:t>
            </a:r>
            <a:r>
              <a:rPr lang="en-US" altLang="zh-TW" dirty="0"/>
              <a:t>)</a:t>
            </a:r>
            <a:r>
              <a:rPr lang="zh-TW" altLang="en-US" dirty="0"/>
              <a:t>。這有力地證明了 </a:t>
            </a:r>
            <a:r>
              <a:rPr lang="en-US" altLang="zh-TW" dirty="0" err="1"/>
              <a:t>GNoME</a:t>
            </a:r>
            <a:r>
              <a:rPr lang="en-US" altLang="zh-TW" dirty="0"/>
              <a:t> </a:t>
            </a:r>
            <a:r>
              <a:rPr lang="zh-TW" altLang="en-US" dirty="0"/>
              <a:t>的發現是</a:t>
            </a:r>
            <a:r>
              <a:rPr lang="zh-TW" altLang="en-US" b="1" dirty="0"/>
              <a:t>計算上穩健可靠的</a:t>
            </a:r>
            <a:r>
              <a:rPr lang="zh-TW" altLang="en-US" dirty="0"/>
              <a:t>，而非特定計算方法造成的假象。</a:t>
            </a:r>
          </a:p>
          <a:p>
            <a:endParaRPr lang="zh-TW" altLang="en-US" dirty="0"/>
          </a:p>
        </p:txBody>
      </p:sp>
      <p:sp>
        <p:nvSpPr>
          <p:cNvPr id="4" name="投影片編號版面配置區 3"/>
          <p:cNvSpPr>
            <a:spLocks noGrp="1"/>
          </p:cNvSpPr>
          <p:nvPr>
            <p:ph type="sldNum" sz="quarter" idx="5"/>
          </p:nvPr>
        </p:nvSpPr>
        <p:spPr/>
        <p:txBody>
          <a:bodyPr/>
          <a:lstStyle/>
          <a:p>
            <a:fld id="{89A7B55A-3D95-4A03-B612-CCE10A1542C0}" type="slidenum">
              <a:rPr lang="zh-TW" altLang="en-US" smtClean="0"/>
              <a:t>4</a:t>
            </a:fld>
            <a:endParaRPr lang="zh-TW" altLang="en-US"/>
          </a:p>
        </p:txBody>
      </p:sp>
    </p:spTree>
    <p:extLst>
      <p:ext uri="{BB962C8B-B14F-4D97-AF65-F5344CB8AC3E}">
        <p14:creationId xmlns:p14="http://schemas.microsoft.com/office/powerpoint/2010/main" val="4111358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511D47-4F8B-858D-CD47-8AA9D60A3A8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387FEE0-D961-40D8-0FFA-23EA0E9532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896F8AA-1C01-C303-0A3C-A76B30CB2271}"/>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5" name="頁尾版面配置區 4">
            <a:extLst>
              <a:ext uri="{FF2B5EF4-FFF2-40B4-BE49-F238E27FC236}">
                <a16:creationId xmlns:a16="http://schemas.microsoft.com/office/drawing/2014/main" id="{52F3A0C6-AEB7-B7CE-9EC2-5146ED844F8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042620E-3271-612A-6674-0DF244DC74A3}"/>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2474269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37D9F-E9AD-4304-668B-FD6CC6A9C58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A757DC9-7BA5-B9AD-02D9-3967034A908C}"/>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DCD9871-A59C-594A-7E92-A5C80D9BF2F7}"/>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5" name="頁尾版面配置區 4">
            <a:extLst>
              <a:ext uri="{FF2B5EF4-FFF2-40B4-BE49-F238E27FC236}">
                <a16:creationId xmlns:a16="http://schemas.microsoft.com/office/drawing/2014/main" id="{98ABF57B-4AF1-5392-0CC0-20B649005DA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5084E4D-0DE7-3187-2E05-7AB47FD2D728}"/>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1201645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714DF5-F41A-D4E5-2FEC-C44B1E133B3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0751FA8-9A29-2A17-4705-4FF3B3D294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AD79C47E-A0A7-E1B8-CA8C-A2EB3DD2D66C}"/>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5" name="頁尾版面配置區 4">
            <a:extLst>
              <a:ext uri="{FF2B5EF4-FFF2-40B4-BE49-F238E27FC236}">
                <a16:creationId xmlns:a16="http://schemas.microsoft.com/office/drawing/2014/main" id="{76E53B00-AD41-2139-2B66-F398070D04C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EEC049-B534-3044-4223-D374873CA73D}"/>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426106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29D677-79B8-8AA5-37BF-C9CBEEF440E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CE2A49D-145C-26D5-2659-76AB2B7887DE}"/>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4692D1F-E4F6-BAB9-741A-F902218BB4BF}"/>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1D0D094-C656-A7DE-2F5D-2F1567B6D2BB}"/>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6" name="頁尾版面配置區 5">
            <a:extLst>
              <a:ext uri="{FF2B5EF4-FFF2-40B4-BE49-F238E27FC236}">
                <a16:creationId xmlns:a16="http://schemas.microsoft.com/office/drawing/2014/main" id="{DC8BA548-B906-998C-94D4-9B42AD710C1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8EE027B-A07D-7227-0042-17F37EA509F2}"/>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3603927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A569C1-641F-44BC-835D-E558FC463B2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42B7322-9760-DCA6-A83F-20CED07475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D978F894-2034-F8D2-3FA2-17018B9426DF}"/>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5635DB2F-32F2-2C67-9AC1-A63E8B9A13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04824CB4-6AD6-C6EA-DFCF-7E0159F18AB4}"/>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57E4D5F-B5CA-58D4-73D0-0A771EF3EBEE}"/>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8" name="頁尾版面配置區 7">
            <a:extLst>
              <a:ext uri="{FF2B5EF4-FFF2-40B4-BE49-F238E27FC236}">
                <a16:creationId xmlns:a16="http://schemas.microsoft.com/office/drawing/2014/main" id="{70DA1880-9263-1C56-0F55-5C7C40E1194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D240D319-5713-3943-18B8-F2A13A17B040}"/>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2788986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0FCFBF-523D-7DF1-2E45-AB868BE09CB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B654181-5E18-D134-DB2C-A564B2C9C325}"/>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4" name="頁尾版面配置區 3">
            <a:extLst>
              <a:ext uri="{FF2B5EF4-FFF2-40B4-BE49-F238E27FC236}">
                <a16:creationId xmlns:a16="http://schemas.microsoft.com/office/drawing/2014/main" id="{6C36AF8A-6A34-5FA1-E54A-BE1E9A72C34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36E128A-8D7F-3A53-2CDA-757A509E28D8}"/>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506911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8D2F2B1B-FF50-EE8F-015C-325C09DC25D2}"/>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3" name="頁尾版面配置區 2">
            <a:extLst>
              <a:ext uri="{FF2B5EF4-FFF2-40B4-BE49-F238E27FC236}">
                <a16:creationId xmlns:a16="http://schemas.microsoft.com/office/drawing/2014/main" id="{49A69DBF-AD2B-77DD-2819-5E31B3760D9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AA9BBFE-85AF-8B1D-62D6-AA99693D82F9}"/>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3090876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D1CB8E-92D4-A7CF-58A4-F3C3634273F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C51B7EAC-18A9-BA5B-542D-B8A192FFC4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F3656771-67F2-090B-57A7-269998F84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FEC0CBD-6295-4399-5066-85A40CF72F9A}"/>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6" name="頁尾版面配置區 5">
            <a:extLst>
              <a:ext uri="{FF2B5EF4-FFF2-40B4-BE49-F238E27FC236}">
                <a16:creationId xmlns:a16="http://schemas.microsoft.com/office/drawing/2014/main" id="{7E6A1E05-BCCE-B426-77A4-665C499BD4C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32AD41D-31E6-4D25-841B-CE1C8CD6976A}"/>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3888582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1C9B55-573E-FEC4-5A84-C8C7D0B2D51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95EF71A-5F05-4A4C-02AA-7E9E46DF96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A44783E-EB28-72A8-3ADE-254365078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665B64B6-1CDE-ECFF-AF9D-43E4E263E15C}"/>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6" name="頁尾版面配置區 5">
            <a:extLst>
              <a:ext uri="{FF2B5EF4-FFF2-40B4-BE49-F238E27FC236}">
                <a16:creationId xmlns:a16="http://schemas.microsoft.com/office/drawing/2014/main" id="{F07D9841-2EE3-BE96-8767-422C0CA5659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09F7D9D-B042-A291-7F2A-6C176AFED4AC}"/>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2696966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FA6CB4-0645-C423-01F0-F4DD29311B8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56BFF97-B7F5-1489-6199-9F9188818EB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E1F1A44-6376-9794-6507-508974317DFE}"/>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5" name="頁尾版面配置區 4">
            <a:extLst>
              <a:ext uri="{FF2B5EF4-FFF2-40B4-BE49-F238E27FC236}">
                <a16:creationId xmlns:a16="http://schemas.microsoft.com/office/drawing/2014/main" id="{570783DE-BC6D-EF42-67B2-A3B6BA0654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69F2D65-54C6-61D2-4D6E-CC7629F0DEB2}"/>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1678863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35D7D0-BDA2-A7A9-7DB0-4C21990A285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68696D5C-CD56-D01A-5FD1-BDDD38B4689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9265130-C0E7-E5FF-58C3-4975DFF53078}"/>
              </a:ext>
            </a:extLst>
          </p:cNvPr>
          <p:cNvSpPr>
            <a:spLocks noGrp="1"/>
          </p:cNvSpPr>
          <p:nvPr>
            <p:ph type="dt" sz="half" idx="10"/>
          </p:nvPr>
        </p:nvSpPr>
        <p:spPr/>
        <p:txBody>
          <a:bodyPr/>
          <a:lstStyle/>
          <a:p>
            <a:fld id="{5721B18A-DB87-4FBB-BED8-4E8F6F9F22D7}" type="datetimeFigureOut">
              <a:rPr lang="zh-TW" altLang="en-US" smtClean="0"/>
              <a:t>2025/9/22</a:t>
            </a:fld>
            <a:endParaRPr lang="zh-TW" altLang="en-US"/>
          </a:p>
        </p:txBody>
      </p:sp>
      <p:sp>
        <p:nvSpPr>
          <p:cNvPr id="5" name="頁尾版面配置區 4">
            <a:extLst>
              <a:ext uri="{FF2B5EF4-FFF2-40B4-BE49-F238E27FC236}">
                <a16:creationId xmlns:a16="http://schemas.microsoft.com/office/drawing/2014/main" id="{38959400-651E-92F3-A54F-1CEA4001357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7F131EA-316A-EEF4-553B-F206F0A3A860}"/>
              </a:ext>
            </a:extLst>
          </p:cNvPr>
          <p:cNvSpPr>
            <a:spLocks noGrp="1"/>
          </p:cNvSpPr>
          <p:nvPr>
            <p:ph type="sldNum" sz="quarter" idx="12"/>
          </p:nvPr>
        </p:nvSpPr>
        <p:spPr/>
        <p:txBody>
          <a:body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3974413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D798DEC-874F-8A24-016E-EC497F799E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330329B-A7C5-695C-4D48-507CAC1CF2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7300951-7866-3387-29AE-6B2004402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1B18A-DB87-4FBB-BED8-4E8F6F9F22D7}" type="datetimeFigureOut">
              <a:rPr lang="zh-TW" altLang="en-US" smtClean="0"/>
              <a:t>2025/9/22</a:t>
            </a:fld>
            <a:endParaRPr lang="zh-TW" altLang="en-US"/>
          </a:p>
        </p:txBody>
      </p:sp>
      <p:sp>
        <p:nvSpPr>
          <p:cNvPr id="5" name="頁尾版面配置區 4">
            <a:extLst>
              <a:ext uri="{FF2B5EF4-FFF2-40B4-BE49-F238E27FC236}">
                <a16:creationId xmlns:a16="http://schemas.microsoft.com/office/drawing/2014/main" id="{F7DE09AD-5163-14A0-D84B-6E9E9FBB1C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DEF653B-4F76-35B3-DF08-932BBA6E59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E8E525-A335-4E07-A746-47B39560B38A}" type="slidenum">
              <a:rPr lang="zh-TW" altLang="en-US" smtClean="0"/>
              <a:t>‹#›</a:t>
            </a:fld>
            <a:endParaRPr lang="zh-TW" altLang="en-US"/>
          </a:p>
        </p:txBody>
      </p:sp>
    </p:spTree>
    <p:extLst>
      <p:ext uri="{BB962C8B-B14F-4D97-AF65-F5344CB8AC3E}">
        <p14:creationId xmlns:p14="http://schemas.microsoft.com/office/powerpoint/2010/main" val="2573946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9B43D0-DD5D-9DFA-CB54-D842E709B560}"/>
              </a:ext>
            </a:extLst>
          </p:cNvPr>
          <p:cNvSpPr>
            <a:spLocks noGrp="1"/>
          </p:cNvSpPr>
          <p:nvPr>
            <p:ph type="ctrTitle"/>
          </p:nvPr>
        </p:nvSpPr>
        <p:spPr/>
        <p:txBody>
          <a:bodyPr>
            <a:normAutofit fontScale="90000"/>
          </a:bodyPr>
          <a:lstStyle/>
          <a:p>
            <a:r>
              <a:rPr lang="en-US" altLang="zh-TW" dirty="0"/>
              <a:t>Scaling deep learning for materials discovery</a:t>
            </a:r>
            <a:br>
              <a:rPr lang="en-US" altLang="zh-TW" dirty="0"/>
            </a:br>
            <a:r>
              <a:rPr lang="en-US" altLang="zh-TW" b="0" i="0" dirty="0" err="1">
                <a:solidFill>
                  <a:srgbClr val="000000"/>
                </a:solidFill>
                <a:effectLst/>
                <a:latin typeface="Helvetica" panose="020B0604020202020204" pitchFamily="34" charset="0"/>
              </a:rPr>
              <a:t>GNoME</a:t>
            </a:r>
            <a:endParaRPr lang="zh-TW" altLang="en-US" dirty="0"/>
          </a:p>
        </p:txBody>
      </p:sp>
      <p:sp>
        <p:nvSpPr>
          <p:cNvPr id="3" name="副標題 2">
            <a:extLst>
              <a:ext uri="{FF2B5EF4-FFF2-40B4-BE49-F238E27FC236}">
                <a16:creationId xmlns:a16="http://schemas.microsoft.com/office/drawing/2014/main" id="{AEEFB293-5B97-1740-C10E-C93FEC9D5B1A}"/>
              </a:ext>
            </a:extLst>
          </p:cNvPr>
          <p:cNvSpPr>
            <a:spLocks noGrp="1"/>
          </p:cNvSpPr>
          <p:nvPr>
            <p:ph type="subTitle" idx="1"/>
          </p:nvPr>
        </p:nvSpPr>
        <p:spPr/>
        <p:txBody>
          <a:bodyPr/>
          <a:lstStyle/>
          <a:p>
            <a:r>
              <a:rPr lang="zh-TW" altLang="en-US" dirty="0"/>
              <a:t>指導教授</a:t>
            </a:r>
            <a:r>
              <a:rPr lang="en-US" altLang="zh-TW" dirty="0"/>
              <a:t>:</a:t>
            </a:r>
            <a:r>
              <a:rPr lang="zh-TW" altLang="en-US" dirty="0"/>
              <a:t>陳大正</a:t>
            </a:r>
            <a:endParaRPr lang="en-US" altLang="zh-TW" dirty="0"/>
          </a:p>
          <a:p>
            <a:r>
              <a:rPr lang="zh-TW" altLang="en-US" dirty="0"/>
              <a:t>學生</a:t>
            </a:r>
            <a:r>
              <a:rPr lang="en-US" altLang="zh-TW" dirty="0"/>
              <a:t>:</a:t>
            </a:r>
            <a:r>
              <a:rPr lang="zh-TW" altLang="en-US" dirty="0"/>
              <a:t>陳柏均</a:t>
            </a:r>
          </a:p>
        </p:txBody>
      </p:sp>
    </p:spTree>
    <p:extLst>
      <p:ext uri="{BB962C8B-B14F-4D97-AF65-F5344CB8AC3E}">
        <p14:creationId xmlns:p14="http://schemas.microsoft.com/office/powerpoint/2010/main" val="3119320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0618F5-A26A-7E47-5386-AF82493C12D5}"/>
              </a:ext>
            </a:extLst>
          </p:cNvPr>
          <p:cNvSpPr>
            <a:spLocks noGrp="1"/>
          </p:cNvSpPr>
          <p:nvPr>
            <p:ph type="title"/>
          </p:nvPr>
        </p:nvSpPr>
        <p:spPr/>
        <p:txBody>
          <a:bodyPr/>
          <a:lstStyle/>
          <a:p>
            <a:r>
              <a:rPr lang="zh-TW" altLang="en-US" dirty="0"/>
              <a:t>目錄</a:t>
            </a:r>
          </a:p>
        </p:txBody>
      </p:sp>
      <p:sp>
        <p:nvSpPr>
          <p:cNvPr id="3" name="內容版面配置區 2">
            <a:extLst>
              <a:ext uri="{FF2B5EF4-FFF2-40B4-BE49-F238E27FC236}">
                <a16:creationId xmlns:a16="http://schemas.microsoft.com/office/drawing/2014/main" id="{A3F9FAEC-323A-8317-C239-A267541C16B8}"/>
              </a:ext>
            </a:extLst>
          </p:cNvPr>
          <p:cNvSpPr>
            <a:spLocks noGrp="1"/>
          </p:cNvSpPr>
          <p:nvPr>
            <p:ph idx="1"/>
          </p:nvPr>
        </p:nvSpPr>
        <p:spPr/>
        <p:txBody>
          <a:bodyPr/>
          <a:lstStyle/>
          <a:p>
            <a:pPr marL="514350" indent="-514350">
              <a:buFont typeface="+mj-lt"/>
              <a:buAutoNum type="arabicPeriod"/>
            </a:pPr>
            <a:r>
              <a:rPr lang="zh-TW" altLang="en-US" dirty="0"/>
              <a:t>挑戰與突破</a:t>
            </a:r>
            <a:endParaRPr lang="en-US" altLang="zh-TW" dirty="0"/>
          </a:p>
          <a:p>
            <a:pPr marL="514350" indent="-514350">
              <a:buFont typeface="+mj-lt"/>
              <a:buAutoNum type="arabicPeriod"/>
            </a:pPr>
            <a:r>
              <a:rPr lang="en-US" altLang="zh-TW" dirty="0" err="1"/>
              <a:t>GNoME</a:t>
            </a:r>
            <a:r>
              <a:rPr lang="en-US" altLang="zh-TW" dirty="0"/>
              <a:t> </a:t>
            </a:r>
            <a:r>
              <a:rPr lang="zh-TW" altLang="en-US" dirty="0"/>
              <a:t>主動學習框架</a:t>
            </a:r>
            <a:endParaRPr lang="en-US" altLang="zh-TW" dirty="0"/>
          </a:p>
        </p:txBody>
      </p:sp>
    </p:spTree>
    <p:extLst>
      <p:ext uri="{BB962C8B-B14F-4D97-AF65-F5344CB8AC3E}">
        <p14:creationId xmlns:p14="http://schemas.microsoft.com/office/powerpoint/2010/main" val="129836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84BF03-F8E8-3555-D671-F2F8F52FB1A0}"/>
              </a:ext>
            </a:extLst>
          </p:cNvPr>
          <p:cNvSpPr>
            <a:spLocks noGrp="1"/>
          </p:cNvSpPr>
          <p:nvPr>
            <p:ph type="title"/>
          </p:nvPr>
        </p:nvSpPr>
        <p:spPr>
          <a:xfrm>
            <a:off x="838200" y="-14287"/>
            <a:ext cx="10515600" cy="1325563"/>
          </a:xfrm>
        </p:spPr>
        <p:txBody>
          <a:bodyPr/>
          <a:lstStyle/>
          <a:p>
            <a:r>
              <a:rPr lang="zh-TW" altLang="en-US" dirty="0"/>
              <a:t>挑戰與突破</a:t>
            </a:r>
          </a:p>
        </p:txBody>
      </p:sp>
      <p:sp>
        <p:nvSpPr>
          <p:cNvPr id="3" name="內容版面配置區 2">
            <a:extLst>
              <a:ext uri="{FF2B5EF4-FFF2-40B4-BE49-F238E27FC236}">
                <a16:creationId xmlns:a16="http://schemas.microsoft.com/office/drawing/2014/main" id="{8BF00F0F-2C3E-3A8B-E346-741A331FC30B}"/>
              </a:ext>
            </a:extLst>
          </p:cNvPr>
          <p:cNvSpPr>
            <a:spLocks noGrp="1"/>
          </p:cNvSpPr>
          <p:nvPr>
            <p:ph idx="1"/>
          </p:nvPr>
        </p:nvSpPr>
        <p:spPr>
          <a:xfrm>
            <a:off x="123826" y="1311276"/>
            <a:ext cx="6572250" cy="4051300"/>
          </a:xfrm>
        </p:spPr>
        <p:txBody>
          <a:bodyPr>
            <a:noAutofit/>
          </a:bodyPr>
          <a:lstStyle/>
          <a:p>
            <a:pPr marL="0" indent="0">
              <a:lnSpc>
                <a:spcPct val="120000"/>
              </a:lnSpc>
              <a:buNone/>
            </a:pPr>
            <a:r>
              <a:rPr lang="zh-TW" altLang="en-US" sz="2400" dirty="0"/>
              <a:t>過往的材料開發常依賴研究人員的化學直覺 </a:t>
            </a:r>
            <a:r>
              <a:rPr lang="en-US" altLang="zh-TW" sz="2400" dirty="0">
                <a:solidFill>
                  <a:srgbClr val="FF0000"/>
                </a:solidFill>
              </a:rPr>
              <a:t>(human chemical intuition)</a:t>
            </a:r>
            <a:r>
              <a:rPr lang="zh-TW" altLang="en-US" sz="2400" dirty="0"/>
              <a:t>，嚴重瓶頸了探索速度。儘管以第一性原理計算為主的資料庫已將穩定材料擴展至約 </a:t>
            </a:r>
            <a:r>
              <a:rPr lang="en-US" altLang="zh-TW" sz="2400" dirty="0"/>
              <a:t>4.8 </a:t>
            </a:r>
            <a:r>
              <a:rPr lang="zh-TW" altLang="en-US" sz="2400" dirty="0"/>
              <a:t>萬種，但此數量級的增長仍面臨極限。為此，</a:t>
            </a:r>
            <a:r>
              <a:rPr lang="en-US" altLang="zh-TW" sz="2400" dirty="0" err="1"/>
              <a:t>GNoME</a:t>
            </a:r>
            <a:r>
              <a:rPr lang="en-US" altLang="zh-TW" sz="2400" dirty="0"/>
              <a:t> </a:t>
            </a:r>
            <a:r>
              <a:rPr lang="zh-TW" altLang="en-US" sz="2400" dirty="0"/>
              <a:t>取得了突破性成果，發現了 </a:t>
            </a:r>
            <a:r>
              <a:rPr lang="en-US" altLang="zh-TW" sz="2400" dirty="0"/>
              <a:t>38.1 </a:t>
            </a:r>
            <a:r>
              <a:rPr lang="zh-TW" altLang="en-US" sz="2400" dirty="0"/>
              <a:t>萬種位於</a:t>
            </a:r>
            <a:r>
              <a:rPr lang="zh-TW" altLang="en-US" sz="2400" dirty="0">
                <a:solidFill>
                  <a:srgbClr val="FF0000"/>
                </a:solidFill>
              </a:rPr>
              <a:t>能量凸包</a:t>
            </a:r>
            <a:r>
              <a:rPr lang="zh-TW" altLang="en-US" sz="2400" dirty="0"/>
              <a:t>上的全新穩定材料，這代表著人類已知的穩定材料數量實現了一個</a:t>
            </a:r>
            <a:r>
              <a:rPr lang="zh-TW" altLang="en-US" sz="2400" dirty="0">
                <a:solidFill>
                  <a:srgbClr val="FF0000"/>
                </a:solidFill>
              </a:rPr>
              <a:t>數量級 </a:t>
            </a:r>
            <a:r>
              <a:rPr lang="en-US" altLang="zh-TW" sz="2400" dirty="0">
                <a:solidFill>
                  <a:srgbClr val="FF0000"/>
                </a:solidFill>
              </a:rPr>
              <a:t>(an order-of-magnitude)</a:t>
            </a:r>
            <a:r>
              <a:rPr lang="en-US" altLang="zh-TW" sz="2400" dirty="0"/>
              <a:t> </a:t>
            </a:r>
            <a:r>
              <a:rPr lang="zh-TW" altLang="en-US" sz="2400" dirty="0"/>
              <a:t>的擴增。這項成果不僅是數量的飛躍，更體現在其深度上，顯示了 </a:t>
            </a:r>
            <a:r>
              <a:rPr lang="en-US" altLang="zh-TW" sz="2400" dirty="0" err="1"/>
              <a:t>GNoME</a:t>
            </a:r>
            <a:r>
              <a:rPr lang="en-US" altLang="zh-TW" sz="2400" dirty="0"/>
              <a:t> </a:t>
            </a:r>
            <a:r>
              <a:rPr lang="zh-TW" altLang="en-US" sz="2400" dirty="0"/>
              <a:t>能發現大量具有顯著穩定性的新材料，並在過去因組合複雜而難以探索的化學空間中取得了巨大成功。</a:t>
            </a:r>
            <a:endParaRPr lang="en-US" altLang="zh-TW" sz="2400" dirty="0"/>
          </a:p>
        </p:txBody>
      </p:sp>
      <p:pic>
        <p:nvPicPr>
          <p:cNvPr id="5" name="圖片 4">
            <a:extLst>
              <a:ext uri="{FF2B5EF4-FFF2-40B4-BE49-F238E27FC236}">
                <a16:creationId xmlns:a16="http://schemas.microsoft.com/office/drawing/2014/main" id="{ED24DD0E-CA4C-3C5D-0D29-2A1F2EFC4761}"/>
              </a:ext>
            </a:extLst>
          </p:cNvPr>
          <p:cNvPicPr>
            <a:picLocks noChangeAspect="1"/>
          </p:cNvPicPr>
          <p:nvPr/>
        </p:nvPicPr>
        <p:blipFill>
          <a:blip r:embed="rId3"/>
          <a:stretch>
            <a:fillRect/>
          </a:stretch>
        </p:blipFill>
        <p:spPr>
          <a:xfrm>
            <a:off x="7095530" y="840989"/>
            <a:ext cx="4258269" cy="2762636"/>
          </a:xfrm>
          <a:prstGeom prst="rect">
            <a:avLst/>
          </a:prstGeom>
        </p:spPr>
      </p:pic>
      <p:pic>
        <p:nvPicPr>
          <p:cNvPr id="7" name="圖片 6">
            <a:extLst>
              <a:ext uri="{FF2B5EF4-FFF2-40B4-BE49-F238E27FC236}">
                <a16:creationId xmlns:a16="http://schemas.microsoft.com/office/drawing/2014/main" id="{7ED363C1-9F4B-CCA4-C64D-30434224B369}"/>
              </a:ext>
            </a:extLst>
          </p:cNvPr>
          <p:cNvPicPr>
            <a:picLocks noChangeAspect="1"/>
          </p:cNvPicPr>
          <p:nvPr/>
        </p:nvPicPr>
        <p:blipFill>
          <a:blip r:embed="rId4"/>
          <a:stretch>
            <a:fillRect/>
          </a:stretch>
        </p:blipFill>
        <p:spPr>
          <a:xfrm>
            <a:off x="6852608" y="3707005"/>
            <a:ext cx="4744112" cy="2838846"/>
          </a:xfrm>
          <a:prstGeom prst="rect">
            <a:avLst/>
          </a:prstGeom>
        </p:spPr>
      </p:pic>
    </p:spTree>
    <p:extLst>
      <p:ext uri="{BB962C8B-B14F-4D97-AF65-F5344CB8AC3E}">
        <p14:creationId xmlns:p14="http://schemas.microsoft.com/office/powerpoint/2010/main" val="913939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84D365-D9A1-E504-F141-F22494F8CA5F}"/>
              </a:ext>
            </a:extLst>
          </p:cNvPr>
          <p:cNvSpPr>
            <a:spLocks noGrp="1"/>
          </p:cNvSpPr>
          <p:nvPr>
            <p:ph type="title"/>
          </p:nvPr>
        </p:nvSpPr>
        <p:spPr>
          <a:xfrm>
            <a:off x="838200" y="0"/>
            <a:ext cx="10515600" cy="1325563"/>
          </a:xfrm>
        </p:spPr>
        <p:txBody>
          <a:bodyPr/>
          <a:lstStyle/>
          <a:p>
            <a:r>
              <a:rPr lang="zh-TW" altLang="en-US" dirty="0"/>
              <a:t>挑戰與突破</a:t>
            </a:r>
          </a:p>
        </p:txBody>
      </p:sp>
      <p:sp>
        <p:nvSpPr>
          <p:cNvPr id="3" name="內容版面配置區 2">
            <a:extLst>
              <a:ext uri="{FF2B5EF4-FFF2-40B4-BE49-F238E27FC236}">
                <a16:creationId xmlns:a16="http://schemas.microsoft.com/office/drawing/2014/main" id="{F289E5E2-A579-8590-3AF6-027503E5FA16}"/>
              </a:ext>
            </a:extLst>
          </p:cNvPr>
          <p:cNvSpPr>
            <a:spLocks noGrp="1"/>
          </p:cNvSpPr>
          <p:nvPr>
            <p:ph idx="1"/>
          </p:nvPr>
        </p:nvSpPr>
        <p:spPr>
          <a:xfrm>
            <a:off x="304800" y="1325563"/>
            <a:ext cx="5791200" cy="5337064"/>
          </a:xfrm>
        </p:spPr>
        <p:txBody>
          <a:bodyPr>
            <a:normAutofit lnSpcReduction="10000"/>
          </a:bodyPr>
          <a:lstStyle/>
          <a:p>
            <a:pPr marL="0" indent="0">
              <a:buNone/>
            </a:pPr>
            <a:r>
              <a:rPr lang="en-US" altLang="zh-TW" dirty="0" err="1"/>
              <a:t>GNoME</a:t>
            </a:r>
            <a:r>
              <a:rPr lang="zh-TW" altLang="en-US" dirty="0"/>
              <a:t>的價值不僅在於數量，更展現在其探索的廣度與深度。</a:t>
            </a:r>
            <a:r>
              <a:rPr lang="en-US" altLang="zh-TW" dirty="0"/>
              <a:t> </a:t>
            </a:r>
            <a:r>
              <a:rPr lang="zh-TW" altLang="en-US" dirty="0"/>
              <a:t>成功克服了組合爆炸性增長的挑戰，發現了</a:t>
            </a:r>
            <a:r>
              <a:rPr lang="zh-TW" altLang="en-US" dirty="0">
                <a:solidFill>
                  <a:srgbClr val="FF0000"/>
                </a:solidFill>
              </a:rPr>
              <a:t>超過 </a:t>
            </a:r>
            <a:r>
              <a:rPr lang="en-US" altLang="zh-TW" dirty="0">
                <a:solidFill>
                  <a:srgbClr val="FF0000"/>
                </a:solidFill>
              </a:rPr>
              <a:t>45,500 </a:t>
            </a:r>
            <a:r>
              <a:rPr lang="zh-TW" altLang="en-US" dirty="0">
                <a:solidFill>
                  <a:srgbClr val="FF0000"/>
                </a:solidFill>
              </a:rPr>
              <a:t>種新的晶體結構</a:t>
            </a:r>
            <a:r>
              <a:rPr lang="zh-TW" altLang="en-US" dirty="0"/>
              <a:t>原型，相較</a:t>
            </a:r>
            <a:r>
              <a:rPr lang="zh-TW" altLang="en-US" dirty="0">
                <a:solidFill>
                  <a:srgbClr val="FF0000"/>
                </a:solidFill>
              </a:rPr>
              <a:t>過去</a:t>
            </a:r>
            <a:r>
              <a:rPr lang="zh-TW" altLang="en-US" dirty="0"/>
              <a:t>實現了 </a:t>
            </a:r>
            <a:r>
              <a:rPr lang="en-US" altLang="zh-TW" dirty="0">
                <a:solidFill>
                  <a:srgbClr val="FF0000"/>
                </a:solidFill>
              </a:rPr>
              <a:t>5.6 </a:t>
            </a:r>
            <a:r>
              <a:rPr lang="zh-TW" altLang="en-US" dirty="0">
                <a:solidFill>
                  <a:srgbClr val="FF0000"/>
                </a:solidFill>
              </a:rPr>
              <a:t>倍的增長</a:t>
            </a:r>
            <a:r>
              <a:rPr lang="zh-TW" altLang="en-US" dirty="0"/>
              <a:t>，極大地豐富了材料結構的多樣性。更重要的是，為確保計算結果的可靠性，研究使用更精確的方法進行驗證。</a:t>
            </a:r>
            <a:endParaRPr lang="en-US" altLang="zh-TW" dirty="0"/>
          </a:p>
          <a:p>
            <a:pPr marL="0" indent="0">
              <a:buNone/>
            </a:pPr>
            <a:r>
              <a:rPr lang="zh-TW" altLang="en-US" dirty="0"/>
              <a:t>結果顯示高達 </a:t>
            </a:r>
            <a:r>
              <a:rPr lang="en-US" altLang="zh-TW" dirty="0">
                <a:solidFill>
                  <a:srgbClr val="FF0000"/>
                </a:solidFill>
              </a:rPr>
              <a:t>84% </a:t>
            </a:r>
            <a:r>
              <a:rPr lang="zh-TW" altLang="en-US" dirty="0"/>
              <a:t>的材料依然保持</a:t>
            </a:r>
            <a:r>
              <a:rPr lang="zh-TW" altLang="en-US" dirty="0">
                <a:solidFill>
                  <a:srgbClr val="FF0000"/>
                </a:solidFill>
              </a:rPr>
              <a:t>穩定</a:t>
            </a:r>
            <a:r>
              <a:rPr lang="zh-TW" altLang="en-US" dirty="0"/>
              <a:t>。這有力地證實了這些發現並非計算假象，而是具有高度可靠性，成功地在過去難以企及的含四種以上元素的複雜化學空間中實現了高效且穩健的發現。</a:t>
            </a:r>
          </a:p>
        </p:txBody>
      </p:sp>
      <p:pic>
        <p:nvPicPr>
          <p:cNvPr id="5" name="圖片 4">
            <a:extLst>
              <a:ext uri="{FF2B5EF4-FFF2-40B4-BE49-F238E27FC236}">
                <a16:creationId xmlns:a16="http://schemas.microsoft.com/office/drawing/2014/main" id="{A26D6074-9862-825E-BE98-F36463DCBF72}"/>
              </a:ext>
            </a:extLst>
          </p:cNvPr>
          <p:cNvPicPr>
            <a:picLocks noChangeAspect="1"/>
          </p:cNvPicPr>
          <p:nvPr/>
        </p:nvPicPr>
        <p:blipFill>
          <a:blip r:embed="rId3"/>
          <a:stretch>
            <a:fillRect/>
          </a:stretch>
        </p:blipFill>
        <p:spPr>
          <a:xfrm>
            <a:off x="6666846" y="437732"/>
            <a:ext cx="4686954" cy="3010320"/>
          </a:xfrm>
          <a:prstGeom prst="rect">
            <a:avLst/>
          </a:prstGeom>
        </p:spPr>
      </p:pic>
      <p:pic>
        <p:nvPicPr>
          <p:cNvPr id="7" name="圖片 6">
            <a:extLst>
              <a:ext uri="{FF2B5EF4-FFF2-40B4-BE49-F238E27FC236}">
                <a16:creationId xmlns:a16="http://schemas.microsoft.com/office/drawing/2014/main" id="{1FCA4C7A-B097-E141-86EA-F3B4B3582B9B}"/>
              </a:ext>
            </a:extLst>
          </p:cNvPr>
          <p:cNvPicPr>
            <a:picLocks noChangeAspect="1"/>
          </p:cNvPicPr>
          <p:nvPr/>
        </p:nvPicPr>
        <p:blipFill>
          <a:blip r:embed="rId4"/>
          <a:stretch>
            <a:fillRect/>
          </a:stretch>
        </p:blipFill>
        <p:spPr>
          <a:xfrm>
            <a:off x="6695425" y="3690412"/>
            <a:ext cx="4629796" cy="2972215"/>
          </a:xfrm>
          <a:prstGeom prst="rect">
            <a:avLst/>
          </a:prstGeom>
        </p:spPr>
      </p:pic>
    </p:spTree>
    <p:extLst>
      <p:ext uri="{BB962C8B-B14F-4D97-AF65-F5344CB8AC3E}">
        <p14:creationId xmlns:p14="http://schemas.microsoft.com/office/powerpoint/2010/main" val="3381937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B46317-7D97-DF04-4E3F-6F3E14C190A2}"/>
              </a:ext>
            </a:extLst>
          </p:cNvPr>
          <p:cNvSpPr>
            <a:spLocks noGrp="1"/>
          </p:cNvSpPr>
          <p:nvPr>
            <p:ph type="title"/>
          </p:nvPr>
        </p:nvSpPr>
        <p:spPr/>
        <p:txBody>
          <a:bodyPr/>
          <a:lstStyle/>
          <a:p>
            <a:r>
              <a:rPr lang="en-US" altLang="zh-TW" dirty="0" err="1"/>
              <a:t>GNoME</a:t>
            </a:r>
            <a:r>
              <a:rPr lang="en-US" altLang="zh-TW" dirty="0"/>
              <a:t> </a:t>
            </a:r>
            <a:r>
              <a:rPr lang="zh-TW" altLang="en-US" dirty="0"/>
              <a:t>主動學習框架</a:t>
            </a:r>
          </a:p>
        </p:txBody>
      </p:sp>
      <p:pic>
        <p:nvPicPr>
          <p:cNvPr id="4098" name="Picture 2">
            <a:extLst>
              <a:ext uri="{FF2B5EF4-FFF2-40B4-BE49-F238E27FC236}">
                <a16:creationId xmlns:a16="http://schemas.microsoft.com/office/drawing/2014/main" id="{E201EE1D-CBAF-6262-27A0-DEB4AB80F3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8052" y="1690688"/>
            <a:ext cx="11595652" cy="4802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056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7D6237-8AA8-59F1-C5E2-FCC16A957D7D}"/>
              </a:ext>
            </a:extLst>
          </p:cNvPr>
          <p:cNvSpPr>
            <a:spLocks noGrp="1"/>
          </p:cNvSpPr>
          <p:nvPr>
            <p:ph type="title"/>
          </p:nvPr>
        </p:nvSpPr>
        <p:spPr>
          <a:xfrm>
            <a:off x="838200" y="0"/>
            <a:ext cx="10515600" cy="1325563"/>
          </a:xfrm>
        </p:spPr>
        <p:txBody>
          <a:bodyPr/>
          <a:lstStyle/>
          <a:p>
            <a:r>
              <a:rPr lang="en-US" altLang="zh-TW" dirty="0" err="1"/>
              <a:t>GNoME</a:t>
            </a:r>
            <a:r>
              <a:rPr lang="en-US" altLang="zh-TW" dirty="0"/>
              <a:t> </a:t>
            </a:r>
            <a:r>
              <a:rPr lang="zh-TW" altLang="en-US" dirty="0"/>
              <a:t>主動學習框架</a:t>
            </a:r>
            <a:r>
              <a:rPr lang="en-US" altLang="zh-TW" dirty="0"/>
              <a:t>-GNN</a:t>
            </a:r>
            <a:r>
              <a:rPr lang="zh-TW" altLang="en-US" dirty="0"/>
              <a:t>訓練</a:t>
            </a:r>
          </a:p>
        </p:txBody>
      </p:sp>
      <p:sp>
        <p:nvSpPr>
          <p:cNvPr id="6" name="文字方塊 5">
            <a:extLst>
              <a:ext uri="{FF2B5EF4-FFF2-40B4-BE49-F238E27FC236}">
                <a16:creationId xmlns:a16="http://schemas.microsoft.com/office/drawing/2014/main" id="{BDF1795F-D64D-D7F5-C5F6-5397B471E0FB}"/>
              </a:ext>
            </a:extLst>
          </p:cNvPr>
          <p:cNvSpPr txBox="1"/>
          <p:nvPr/>
        </p:nvSpPr>
        <p:spPr>
          <a:xfrm>
            <a:off x="162389" y="1124931"/>
            <a:ext cx="3720498" cy="3416320"/>
          </a:xfrm>
          <a:prstGeom prst="rect">
            <a:avLst/>
          </a:prstGeom>
          <a:noFill/>
        </p:spPr>
        <p:txBody>
          <a:bodyPr wrap="square" rtlCol="0">
            <a:spAutoFit/>
          </a:bodyPr>
          <a:lstStyle/>
          <a:p>
            <a:r>
              <a:rPr lang="zh-TW" altLang="en-US" sz="2400" dirty="0"/>
              <a:t>整合了 </a:t>
            </a:r>
            <a:r>
              <a:rPr lang="en-US" altLang="zh-TW" sz="2400" dirty="0"/>
              <a:t>Material Project (MP)</a:t>
            </a:r>
            <a:r>
              <a:rPr lang="zh-TW" altLang="en-US" sz="2400" dirty="0"/>
              <a:t>、</a:t>
            </a:r>
            <a:r>
              <a:rPr lang="en-US" altLang="zh-TW" sz="2400" dirty="0"/>
              <a:t>OQMD</a:t>
            </a:r>
            <a:r>
              <a:rPr lang="zh-TW" altLang="en-US" sz="2400" dirty="0"/>
              <a:t>、</a:t>
            </a:r>
            <a:r>
              <a:rPr lang="en-US" altLang="zh-TW" sz="2400" dirty="0"/>
              <a:t>WBM </a:t>
            </a:r>
            <a:r>
              <a:rPr lang="zh-TW" altLang="en-US" sz="2400" dirty="0"/>
              <a:t>與 </a:t>
            </a:r>
            <a:r>
              <a:rPr lang="en-US" altLang="zh-TW" sz="2400" dirty="0"/>
              <a:t>ICSD </a:t>
            </a:r>
            <a:r>
              <a:rPr lang="zh-TW" altLang="en-US" sz="2400" dirty="0"/>
              <a:t>等現有的大型材料資料庫，以此為基礎訓練出一個高精準度的基線模型。此模型的目標是</a:t>
            </a:r>
            <a:r>
              <a:rPr lang="zh-TW" altLang="en-US" sz="2400" b="1" dirty="0">
                <a:solidFill>
                  <a:srgbClr val="FF0000"/>
                </a:solidFill>
              </a:rPr>
              <a:t>在現有的知識範圍內進行穩健的穩定性預測</a:t>
            </a:r>
            <a:r>
              <a:rPr lang="zh-TW" altLang="en-US" sz="2400" dirty="0"/>
              <a:t>，為後續的探索任務奠定堅實的基礎。</a:t>
            </a:r>
          </a:p>
        </p:txBody>
      </p:sp>
      <p:graphicFrame>
        <p:nvGraphicFramePr>
          <p:cNvPr id="8" name="表格 7">
            <a:extLst>
              <a:ext uri="{FF2B5EF4-FFF2-40B4-BE49-F238E27FC236}">
                <a16:creationId xmlns:a16="http://schemas.microsoft.com/office/drawing/2014/main" id="{04EE26EE-5B91-686F-CFE2-82B2CED51A65}"/>
              </a:ext>
            </a:extLst>
          </p:cNvPr>
          <p:cNvGraphicFramePr>
            <a:graphicFrameLocks noGrp="1"/>
          </p:cNvGraphicFramePr>
          <p:nvPr>
            <p:extLst>
              <p:ext uri="{D42A27DB-BD31-4B8C-83A1-F6EECF244321}">
                <p14:modId xmlns:p14="http://schemas.microsoft.com/office/powerpoint/2010/main" val="3597365531"/>
              </p:ext>
            </p:extLst>
          </p:nvPr>
        </p:nvGraphicFramePr>
        <p:xfrm>
          <a:off x="3988905" y="1132598"/>
          <a:ext cx="8183117" cy="3208020"/>
        </p:xfrm>
        <a:graphic>
          <a:graphicData uri="http://schemas.openxmlformats.org/drawingml/2006/table">
            <a:tbl>
              <a:tblPr/>
              <a:tblGrid>
                <a:gridCol w="1347515">
                  <a:extLst>
                    <a:ext uri="{9D8B030D-6E8A-4147-A177-3AD203B41FA5}">
                      <a16:colId xmlns:a16="http://schemas.microsoft.com/office/drawing/2014/main" val="3418324482"/>
                    </a:ext>
                  </a:extLst>
                </a:gridCol>
                <a:gridCol w="2598149">
                  <a:extLst>
                    <a:ext uri="{9D8B030D-6E8A-4147-A177-3AD203B41FA5}">
                      <a16:colId xmlns:a16="http://schemas.microsoft.com/office/drawing/2014/main" val="83675204"/>
                    </a:ext>
                  </a:extLst>
                </a:gridCol>
                <a:gridCol w="4237453">
                  <a:extLst>
                    <a:ext uri="{9D8B030D-6E8A-4147-A177-3AD203B41FA5}">
                      <a16:colId xmlns:a16="http://schemas.microsoft.com/office/drawing/2014/main" val="2925733295"/>
                    </a:ext>
                  </a:extLst>
                </a:gridCol>
              </a:tblGrid>
              <a:tr h="200025">
                <a:tc>
                  <a:txBody>
                    <a:bodyPr/>
                    <a:lstStyle/>
                    <a:p>
                      <a:pPr rtl="0" fontAlgn="ctr"/>
                      <a:r>
                        <a:rPr lang="zh-TW" altLang="en-US" b="0">
                          <a:solidFill>
                            <a:srgbClr val="FFFFFF"/>
                          </a:solidFill>
                          <a:effectLst/>
                          <a:latin typeface="Roboto" panose="02000000000000000000" pitchFamily="2" charset="0"/>
                        </a:rPr>
                        <a:t>資料庫 </a:t>
                      </a:r>
                      <a:r>
                        <a:rPr lang="en-US" altLang="zh-TW" b="0">
                          <a:solidFill>
                            <a:srgbClr val="FFFFFF"/>
                          </a:solidFill>
                          <a:effectLst/>
                          <a:latin typeface="Roboto" panose="02000000000000000000" pitchFamily="2" charset="0"/>
                        </a:rPr>
                        <a:t>(</a:t>
                      </a:r>
                      <a:r>
                        <a:rPr lang="en-US" b="0">
                          <a:solidFill>
                            <a:srgbClr val="FFFFFF"/>
                          </a:solidFill>
                          <a:effectLst/>
                          <a:latin typeface="Roboto" panose="02000000000000000000" pitchFamily="2" charset="0"/>
                        </a:rPr>
                        <a:t>Database)</a:t>
                      </a:r>
                    </a:p>
                  </a:txBody>
                  <a:tcPr marL="76200" marR="76200" marT="19050" marB="19050"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284E3F"/>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356854"/>
                    </a:solidFill>
                  </a:tcPr>
                </a:tc>
                <a:tc>
                  <a:txBody>
                    <a:bodyPr/>
                    <a:lstStyle/>
                    <a:p>
                      <a:pPr rtl="0" fontAlgn="ctr"/>
                      <a:r>
                        <a:rPr lang="zh-TW" altLang="en-US" b="0">
                          <a:solidFill>
                            <a:srgbClr val="FFFFFF"/>
                          </a:solidFill>
                          <a:effectLst/>
                          <a:latin typeface="Roboto" panose="02000000000000000000" pitchFamily="2" charset="0"/>
                        </a:rPr>
                        <a:t>核心方法</a:t>
                      </a:r>
                      <a:r>
                        <a:rPr lang="en-US" altLang="zh-TW" b="0">
                          <a:solidFill>
                            <a:srgbClr val="FFFFFF"/>
                          </a:solidFill>
                          <a:effectLst/>
                          <a:latin typeface="Roboto" panose="02000000000000000000" pitchFamily="2" charset="0"/>
                        </a:rPr>
                        <a:t>/</a:t>
                      </a:r>
                      <a:r>
                        <a:rPr lang="zh-TW" altLang="en-US" b="0">
                          <a:solidFill>
                            <a:srgbClr val="FFFFFF"/>
                          </a:solidFill>
                          <a:effectLst/>
                          <a:latin typeface="Roboto" panose="02000000000000000000" pitchFamily="2" charset="0"/>
                        </a:rPr>
                        <a:t>來源 </a:t>
                      </a:r>
                      <a:r>
                        <a:rPr lang="en-US" altLang="zh-TW" b="0">
                          <a:solidFill>
                            <a:srgbClr val="FFFFFF"/>
                          </a:solidFill>
                          <a:effectLst/>
                          <a:latin typeface="Roboto" panose="02000000000000000000" pitchFamily="2" charset="0"/>
                        </a:rPr>
                        <a:t>(</a:t>
                      </a:r>
                      <a:r>
                        <a:rPr lang="en-US" b="0">
                          <a:solidFill>
                            <a:srgbClr val="FFFFFF"/>
                          </a:solidFill>
                          <a:effectLst/>
                          <a:latin typeface="Roboto" panose="02000000000000000000" pitchFamily="2" charset="0"/>
                        </a:rPr>
                        <a:t>Core Method/Source)</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284E3F"/>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356854"/>
                    </a:solidFill>
                  </a:tcPr>
                </a:tc>
                <a:tc>
                  <a:txBody>
                    <a:bodyPr/>
                    <a:lstStyle/>
                    <a:p>
                      <a:pPr rtl="0" fontAlgn="ctr"/>
                      <a:r>
                        <a:rPr lang="zh-TW" altLang="en-US" b="0">
                          <a:solidFill>
                            <a:srgbClr val="FFFFFF"/>
                          </a:solidFill>
                          <a:effectLst/>
                          <a:latin typeface="Roboto" panose="02000000000000000000" pitchFamily="2" charset="0"/>
                        </a:rPr>
                        <a:t>主要特點 </a:t>
                      </a:r>
                      <a:r>
                        <a:rPr lang="en-US" altLang="zh-TW" b="0">
                          <a:solidFill>
                            <a:srgbClr val="FFFFFF"/>
                          </a:solidFill>
                          <a:effectLst/>
                          <a:latin typeface="Roboto" panose="02000000000000000000" pitchFamily="2" charset="0"/>
                        </a:rPr>
                        <a:t>(</a:t>
                      </a:r>
                      <a:r>
                        <a:rPr lang="en-US" b="0">
                          <a:solidFill>
                            <a:srgbClr val="FFFFFF"/>
                          </a:solidFill>
                          <a:effectLst/>
                          <a:latin typeface="Roboto" panose="02000000000000000000" pitchFamily="2" charset="0"/>
                        </a:rPr>
                        <a:t>Key Feature)</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284E3F"/>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356854"/>
                    </a:solidFill>
                  </a:tcPr>
                </a:tc>
                <a:extLst>
                  <a:ext uri="{0D108BD9-81ED-4DB2-BD59-A6C34878D82A}">
                    <a16:rowId xmlns:a16="http://schemas.microsoft.com/office/drawing/2014/main" val="1051063589"/>
                  </a:ext>
                </a:extLst>
              </a:tr>
              <a:tr h="200025">
                <a:tc>
                  <a:txBody>
                    <a:bodyPr/>
                    <a:lstStyle/>
                    <a:p>
                      <a:pPr rtl="0" fontAlgn="ctr"/>
                      <a:r>
                        <a:rPr lang="en-US" b="0">
                          <a:solidFill>
                            <a:srgbClr val="434343"/>
                          </a:solidFill>
                          <a:effectLst/>
                          <a:latin typeface="Roboto" panose="02000000000000000000" pitchFamily="2" charset="0"/>
                        </a:rPr>
                        <a:t>MP</a:t>
                      </a:r>
                    </a:p>
                  </a:txBody>
                  <a:tcPr marL="76200" marR="76200" marT="19050" marB="19050"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zh-TW" altLang="en-US" b="0">
                          <a:solidFill>
                            <a:srgbClr val="434343"/>
                          </a:solidFill>
                          <a:effectLst/>
                          <a:latin typeface="Roboto" panose="02000000000000000000" pitchFamily="2" charset="0"/>
                        </a:rPr>
                        <a:t>第一性原理密度泛函理論 </a:t>
                      </a:r>
                      <a:r>
                        <a:rPr lang="en-US" altLang="zh-TW" b="0">
                          <a:solidFill>
                            <a:srgbClr val="434343"/>
                          </a:solidFill>
                          <a:effectLst/>
                          <a:latin typeface="Roboto" panose="02000000000000000000" pitchFamily="2" charset="0"/>
                        </a:rPr>
                        <a:t>(DFT) </a:t>
                      </a:r>
                      <a:r>
                        <a:rPr lang="zh-TW" altLang="en-US" b="0">
                          <a:solidFill>
                            <a:srgbClr val="434343"/>
                          </a:solidFill>
                          <a:effectLst/>
                          <a:latin typeface="Roboto" panose="02000000000000000000" pitchFamily="2" charset="0"/>
                        </a:rPr>
                        <a:t>計算</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zh-TW" altLang="en-US" b="0">
                          <a:solidFill>
                            <a:srgbClr val="434343"/>
                          </a:solidFill>
                          <a:effectLst/>
                          <a:latin typeface="Roboto" panose="02000000000000000000" pitchFamily="2" charset="0"/>
                        </a:rPr>
                        <a:t>透過「材料基因組」方法加速材料創新 。</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1823901"/>
                  </a:ext>
                </a:extLst>
              </a:tr>
              <a:tr h="200025">
                <a:tc>
                  <a:txBody>
                    <a:bodyPr/>
                    <a:lstStyle/>
                    <a:p>
                      <a:pPr rtl="0" fontAlgn="ctr"/>
                      <a:r>
                        <a:rPr lang="en-US" b="0">
                          <a:solidFill>
                            <a:srgbClr val="434343"/>
                          </a:solidFill>
                          <a:effectLst/>
                          <a:latin typeface="Roboto" panose="02000000000000000000" pitchFamily="2" charset="0"/>
                        </a:rPr>
                        <a:t>OQMD</a:t>
                      </a:r>
                    </a:p>
                  </a:txBody>
                  <a:tcPr marL="76200" marR="76200" marT="19050" marB="19050"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zh-TW" altLang="en-US" b="0" dirty="0">
                          <a:solidFill>
                            <a:srgbClr val="434343"/>
                          </a:solidFill>
                          <a:effectLst/>
                          <a:latin typeface="Roboto" panose="02000000000000000000" pitchFamily="2" charset="0"/>
                        </a:rPr>
                        <a:t>高通量密度泛函理論 </a:t>
                      </a:r>
                      <a:r>
                        <a:rPr lang="en-US" altLang="zh-TW" b="0" dirty="0">
                          <a:solidFill>
                            <a:srgbClr val="434343"/>
                          </a:solidFill>
                          <a:effectLst/>
                          <a:latin typeface="Roboto" panose="02000000000000000000" pitchFamily="2" charset="0"/>
                        </a:rPr>
                        <a:t>(</a:t>
                      </a:r>
                      <a:r>
                        <a:rPr lang="en-US" b="0" dirty="0">
                          <a:solidFill>
                            <a:srgbClr val="434343"/>
                          </a:solidFill>
                          <a:effectLst/>
                          <a:latin typeface="Roboto" panose="02000000000000000000" pitchFamily="2" charset="0"/>
                        </a:rPr>
                        <a:t>High-throughput DFT)</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zh-TW" altLang="en-US" b="0">
                          <a:solidFill>
                            <a:srgbClr val="434343"/>
                          </a:solidFill>
                          <a:effectLst/>
                          <a:latin typeface="Roboto" panose="02000000000000000000" pitchFamily="2" charset="0"/>
                        </a:rPr>
                        <a:t>專注於材料設計與發現的大規模計算資料庫 。</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2848672963"/>
                  </a:ext>
                </a:extLst>
              </a:tr>
              <a:tr h="200025">
                <a:tc>
                  <a:txBody>
                    <a:bodyPr/>
                    <a:lstStyle/>
                    <a:p>
                      <a:pPr rtl="0" fontAlgn="ctr"/>
                      <a:r>
                        <a:rPr lang="en-US" b="0">
                          <a:solidFill>
                            <a:srgbClr val="434343"/>
                          </a:solidFill>
                          <a:effectLst/>
                          <a:latin typeface="Roboto" panose="02000000000000000000" pitchFamily="2" charset="0"/>
                        </a:rPr>
                        <a:t>WBM</a:t>
                      </a:r>
                    </a:p>
                  </a:txBody>
                  <a:tcPr marL="76200" marR="76200" marT="19050" marB="19050"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zh-TW" altLang="en-US" b="0">
                          <a:solidFill>
                            <a:srgbClr val="434343"/>
                          </a:solidFill>
                          <a:effectLst/>
                          <a:latin typeface="Roboto" panose="02000000000000000000" pitchFamily="2" charset="0"/>
                        </a:rPr>
                        <a:t>理論計算 </a:t>
                      </a:r>
                      <a:r>
                        <a:rPr lang="en-US" altLang="zh-TW" b="0">
                          <a:solidFill>
                            <a:srgbClr val="434343"/>
                          </a:solidFill>
                          <a:effectLst/>
                          <a:latin typeface="Roboto" panose="02000000000000000000" pitchFamily="2" charset="0"/>
                        </a:rPr>
                        <a:t>(</a:t>
                      </a:r>
                      <a:r>
                        <a:rPr lang="zh-TW" altLang="en-US" b="0">
                          <a:solidFill>
                            <a:srgbClr val="434343"/>
                          </a:solidFill>
                          <a:effectLst/>
                          <a:latin typeface="Roboto" panose="02000000000000000000" pitchFamily="2" charset="0"/>
                        </a:rPr>
                        <a:t>基於化學相似性</a:t>
                      </a:r>
                      <a:r>
                        <a:rPr lang="en-US" altLang="zh-TW" b="0">
                          <a:solidFill>
                            <a:srgbClr val="434343"/>
                          </a:solidFill>
                          <a:effectLst/>
                          <a:latin typeface="Roboto" panose="02000000000000000000" pitchFamily="2" charset="0"/>
                        </a:rPr>
                        <a:t>)</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zh-TW" altLang="en-US" b="0">
                          <a:solidFill>
                            <a:srgbClr val="434343"/>
                          </a:solidFill>
                          <a:effectLst/>
                          <a:latin typeface="Roboto" panose="02000000000000000000" pitchFamily="2" charset="0"/>
                        </a:rPr>
                        <a:t>一個基於化學相似性來預測穩定化合物的晶體資料庫 。</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907802770"/>
                  </a:ext>
                </a:extLst>
              </a:tr>
              <a:tr h="200025">
                <a:tc>
                  <a:txBody>
                    <a:bodyPr/>
                    <a:lstStyle/>
                    <a:p>
                      <a:pPr rtl="0" fontAlgn="ctr"/>
                      <a:r>
                        <a:rPr lang="en-US" b="0">
                          <a:solidFill>
                            <a:srgbClr val="434343"/>
                          </a:solidFill>
                          <a:effectLst/>
                          <a:latin typeface="Roboto" panose="02000000000000000000" pitchFamily="2" charset="0"/>
                        </a:rPr>
                        <a:t>ICSD</a:t>
                      </a:r>
                    </a:p>
                  </a:txBody>
                  <a:tcPr marL="76200" marR="76200" marT="19050" marB="19050"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284E3F"/>
                      </a:solidFill>
                      <a:prstDash val="solid"/>
                      <a:round/>
                      <a:headEnd type="none" w="med" len="med"/>
                      <a:tailEnd type="none" w="med" len="med"/>
                    </a:lnB>
                    <a:solidFill>
                      <a:srgbClr val="F6F8F9"/>
                    </a:solidFill>
                  </a:tcPr>
                </a:tc>
                <a:tc>
                  <a:txBody>
                    <a:bodyPr/>
                    <a:lstStyle/>
                    <a:p>
                      <a:pPr rtl="0" fontAlgn="ctr"/>
                      <a:r>
                        <a:rPr lang="zh-TW" altLang="en-US" b="0" dirty="0">
                          <a:solidFill>
                            <a:srgbClr val="434343"/>
                          </a:solidFill>
                          <a:effectLst/>
                          <a:latin typeface="Roboto" panose="02000000000000000000" pitchFamily="2" charset="0"/>
                        </a:rPr>
                        <a:t>實驗方法 </a:t>
                      </a:r>
                      <a:r>
                        <a:rPr lang="en-US" altLang="zh-TW" b="0" dirty="0">
                          <a:solidFill>
                            <a:srgbClr val="434343"/>
                          </a:solidFill>
                          <a:effectLst/>
                          <a:latin typeface="Roboto" panose="02000000000000000000" pitchFamily="2" charset="0"/>
                        </a:rPr>
                        <a:t>(</a:t>
                      </a:r>
                      <a:r>
                        <a:rPr lang="en-US" b="0" dirty="0">
                          <a:solidFill>
                            <a:srgbClr val="434343"/>
                          </a:solidFill>
                          <a:effectLst/>
                          <a:latin typeface="Roboto" panose="02000000000000000000" pitchFamily="2" charset="0"/>
                        </a:rPr>
                        <a:t>Experimentally-based)</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284E3F"/>
                      </a:solidFill>
                      <a:prstDash val="solid"/>
                      <a:round/>
                      <a:headEnd type="none" w="med" len="med"/>
                      <a:tailEnd type="none" w="med" len="med"/>
                    </a:lnB>
                    <a:solidFill>
                      <a:srgbClr val="F6F8F9"/>
                    </a:solidFill>
                  </a:tcPr>
                </a:tc>
                <a:tc>
                  <a:txBody>
                    <a:bodyPr/>
                    <a:lstStyle/>
                    <a:p>
                      <a:pPr rtl="0" fontAlgn="ctr"/>
                      <a:r>
                        <a:rPr lang="zh-TW" altLang="en-US" b="0" dirty="0">
                          <a:solidFill>
                            <a:srgbClr val="434343"/>
                          </a:solidFill>
                          <a:effectLst/>
                          <a:latin typeface="Roboto" panose="02000000000000000000" pitchFamily="2" charset="0"/>
                        </a:rPr>
                        <a:t>歷史悠久的實驗數據資料庫，收錄了約 </a:t>
                      </a:r>
                      <a:r>
                        <a:rPr lang="en-US" altLang="zh-TW" b="0" dirty="0">
                          <a:solidFill>
                            <a:srgbClr val="434343"/>
                          </a:solidFill>
                          <a:effectLst/>
                          <a:latin typeface="Roboto" panose="02000000000000000000" pitchFamily="2" charset="0"/>
                        </a:rPr>
                        <a:t>20 </a:t>
                      </a:r>
                      <a:r>
                        <a:rPr lang="zh-TW" altLang="en-US" b="0" dirty="0">
                          <a:solidFill>
                            <a:srgbClr val="434343"/>
                          </a:solidFill>
                          <a:effectLst/>
                          <a:latin typeface="Roboto" panose="02000000000000000000" pitchFamily="2" charset="0"/>
                        </a:rPr>
                        <a:t>萬筆經實驗確認的結構，常作為計算結果的驗證標準 。</a:t>
                      </a:r>
                    </a:p>
                  </a:txBody>
                  <a:tcPr marL="76200" marR="76200" marT="19050" marB="19050"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284E3F"/>
                      </a:solidFill>
                      <a:prstDash val="solid"/>
                      <a:round/>
                      <a:headEnd type="none" w="med" len="med"/>
                      <a:tailEnd type="none" w="med" len="med"/>
                    </a:lnB>
                    <a:solidFill>
                      <a:srgbClr val="F6F8F9"/>
                    </a:solidFill>
                  </a:tcPr>
                </a:tc>
                <a:extLst>
                  <a:ext uri="{0D108BD9-81ED-4DB2-BD59-A6C34878D82A}">
                    <a16:rowId xmlns:a16="http://schemas.microsoft.com/office/drawing/2014/main" val="140075426"/>
                  </a:ext>
                </a:extLst>
              </a:tr>
            </a:tbl>
          </a:graphicData>
        </a:graphic>
      </p:graphicFrame>
      <p:pic>
        <p:nvPicPr>
          <p:cNvPr id="2050" name="Picture 2">
            <a:extLst>
              <a:ext uri="{FF2B5EF4-FFF2-40B4-BE49-F238E27FC236}">
                <a16:creationId xmlns:a16="http://schemas.microsoft.com/office/drawing/2014/main" id="{26D5D84C-C2FE-33DC-4FC2-7CBF86587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638" y="4340618"/>
            <a:ext cx="9438606" cy="2330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487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E96FA3-A5C1-A4D8-5EB0-2C2708B8955B}"/>
              </a:ext>
            </a:extLst>
          </p:cNvPr>
          <p:cNvSpPr>
            <a:spLocks noGrp="1"/>
          </p:cNvSpPr>
          <p:nvPr>
            <p:ph type="title"/>
          </p:nvPr>
        </p:nvSpPr>
        <p:spPr>
          <a:xfrm>
            <a:off x="838200" y="18255"/>
            <a:ext cx="10515600" cy="1325563"/>
          </a:xfrm>
        </p:spPr>
        <p:txBody>
          <a:bodyPr/>
          <a:lstStyle/>
          <a:p>
            <a:r>
              <a:rPr lang="en-US" altLang="zh-TW" dirty="0" err="1"/>
              <a:t>GNoME</a:t>
            </a:r>
            <a:r>
              <a:rPr lang="en-US" altLang="zh-TW" dirty="0"/>
              <a:t> </a:t>
            </a:r>
            <a:r>
              <a:rPr lang="zh-TW" altLang="en-US" dirty="0"/>
              <a:t>主動學習框架</a:t>
            </a:r>
            <a:r>
              <a:rPr lang="en-US" altLang="zh-TW" dirty="0"/>
              <a:t>-AIRSS</a:t>
            </a:r>
            <a:endParaRPr lang="zh-TW" altLang="en-US" dirty="0"/>
          </a:p>
        </p:txBody>
      </p:sp>
      <p:sp>
        <p:nvSpPr>
          <p:cNvPr id="3" name="內容版面配置區 2">
            <a:extLst>
              <a:ext uri="{FF2B5EF4-FFF2-40B4-BE49-F238E27FC236}">
                <a16:creationId xmlns:a16="http://schemas.microsoft.com/office/drawing/2014/main" id="{22FE8C8D-26AF-500B-5B07-0D0147DDB16B}"/>
              </a:ext>
            </a:extLst>
          </p:cNvPr>
          <p:cNvSpPr>
            <a:spLocks noGrp="1"/>
          </p:cNvSpPr>
          <p:nvPr>
            <p:ph idx="1"/>
          </p:nvPr>
        </p:nvSpPr>
        <p:spPr>
          <a:xfrm>
            <a:off x="122583" y="1253330"/>
            <a:ext cx="6821556" cy="5187227"/>
          </a:xfrm>
        </p:spPr>
        <p:txBody>
          <a:bodyPr>
            <a:noAutofit/>
          </a:bodyPr>
          <a:lstStyle/>
          <a:p>
            <a:pPr marL="0" indent="0">
              <a:lnSpc>
                <a:spcPct val="120000"/>
              </a:lnSpc>
              <a:buNone/>
            </a:pPr>
            <a:r>
              <a:rPr lang="en-US" altLang="zh-TW" sz="2000" dirty="0"/>
              <a:t>AIRSS (Ab Initio Random Structure Searching)</a:t>
            </a:r>
            <a:r>
              <a:rPr lang="zh-TW" altLang="en-US" sz="2000" dirty="0"/>
              <a:t>，基於</a:t>
            </a:r>
            <a:r>
              <a:rPr lang="zh-TW" altLang="en-US" sz="2000" b="1" dirty="0"/>
              <a:t>第一性原理隨機結構搜索 </a:t>
            </a:r>
            <a:r>
              <a:rPr lang="en-US" altLang="zh-TW" sz="2000" b="1" dirty="0"/>
              <a:t>(Ab Initio Random Structure Searching)</a:t>
            </a:r>
            <a:r>
              <a:rPr lang="en-US" altLang="zh-TW" sz="2000" dirty="0"/>
              <a:t> </a:t>
            </a:r>
          </a:p>
          <a:p>
            <a:pPr marL="0" indent="0">
              <a:lnSpc>
                <a:spcPct val="120000"/>
              </a:lnSpc>
              <a:buNone/>
            </a:pPr>
            <a:r>
              <a:rPr lang="zh-TW" altLang="en-US" sz="2000" dirty="0"/>
              <a:t>運作方式：</a:t>
            </a:r>
          </a:p>
          <a:p>
            <a:pPr marL="0" indent="0">
              <a:lnSpc>
                <a:spcPct val="120000"/>
              </a:lnSpc>
              <a:buNone/>
            </a:pPr>
            <a:r>
              <a:rPr lang="zh-TW" altLang="en-US" sz="2000" dirty="0"/>
              <a:t>輸入是一個化學式，沒有結構資訊 。</a:t>
            </a:r>
          </a:p>
          <a:p>
            <a:pPr marL="0" indent="0">
              <a:lnSpc>
                <a:spcPct val="120000"/>
              </a:lnSpc>
              <a:buNone/>
            </a:pPr>
            <a:r>
              <a:rPr lang="zh-TW" altLang="en-US" sz="2000" dirty="0"/>
              <a:t>演算法會在一個模擬空間中</a:t>
            </a:r>
            <a:r>
              <a:rPr lang="zh-TW" altLang="en-US" sz="2000" dirty="0">
                <a:solidFill>
                  <a:srgbClr val="FF0000"/>
                </a:solidFill>
              </a:rPr>
              <a:t>隨機</a:t>
            </a:r>
            <a:r>
              <a:rPr lang="zh-TW" altLang="en-US" sz="2000" dirty="0"/>
              <a:t>但</a:t>
            </a:r>
            <a:r>
              <a:rPr lang="zh-TW" altLang="en-US" sz="2000" dirty="0">
                <a:solidFill>
                  <a:srgbClr val="FF0000"/>
                </a:solidFill>
              </a:rPr>
              <a:t>合理</a:t>
            </a:r>
            <a:r>
              <a:rPr lang="zh-TW" altLang="en-US" sz="2000" dirty="0"/>
              <a:t>地產生一個初始結構 。</a:t>
            </a:r>
          </a:p>
          <a:p>
            <a:pPr marL="0" indent="0">
              <a:lnSpc>
                <a:spcPct val="120000"/>
              </a:lnSpc>
              <a:buNone/>
            </a:pPr>
            <a:r>
              <a:rPr lang="zh-TW" altLang="en-US" sz="2000" dirty="0"/>
              <a:t>接著，使用第一性原理計算（如 </a:t>
            </a:r>
            <a:r>
              <a:rPr lang="en-US" altLang="zh-TW" sz="2000" dirty="0"/>
              <a:t>DFT</a:t>
            </a:r>
            <a:r>
              <a:rPr lang="zh-TW" altLang="en-US" sz="2000" dirty="0"/>
              <a:t>）對這個隨機結構進行</a:t>
            </a:r>
            <a:r>
              <a:rPr lang="zh-TW" altLang="en-US" sz="2000" dirty="0">
                <a:solidFill>
                  <a:srgbClr val="FF0000"/>
                </a:solidFill>
              </a:rPr>
              <a:t>能量最小化（結構弛豫）</a:t>
            </a:r>
            <a:r>
              <a:rPr lang="zh-TW" altLang="en-US" sz="2000" dirty="0"/>
              <a:t>，找到一個局部的能量最低點 。</a:t>
            </a:r>
          </a:p>
          <a:p>
            <a:pPr marL="0" indent="0">
              <a:lnSpc>
                <a:spcPct val="120000"/>
              </a:lnSpc>
              <a:buNone/>
            </a:pPr>
            <a:r>
              <a:rPr lang="zh-TW" altLang="en-US" sz="2000" dirty="0"/>
              <a:t>目的與重要性：</a:t>
            </a:r>
          </a:p>
          <a:p>
            <a:pPr marL="0" indent="0">
              <a:lnSpc>
                <a:spcPct val="120000"/>
              </a:lnSpc>
              <a:buNone/>
            </a:pPr>
            <a:r>
              <a:rPr lang="zh-TW" altLang="en-US" sz="2000" dirty="0"/>
              <a:t>由於</a:t>
            </a:r>
            <a:r>
              <a:rPr lang="zh-TW" altLang="en-US" sz="2000" dirty="0">
                <a:solidFill>
                  <a:srgbClr val="FF0000"/>
                </a:solidFill>
              </a:rPr>
              <a:t>同一個化學式</a:t>
            </a:r>
            <a:r>
              <a:rPr lang="zh-TW" altLang="en-US" sz="2000" dirty="0"/>
              <a:t>可能存在</a:t>
            </a:r>
            <a:r>
              <a:rPr lang="zh-TW" altLang="en-US" sz="2000" dirty="0">
                <a:solidFill>
                  <a:srgbClr val="FF0000"/>
                </a:solidFill>
              </a:rPr>
              <a:t>多種不同的穩定結構（同質多形體）</a:t>
            </a:r>
            <a:r>
              <a:rPr lang="zh-TW" altLang="en-US" sz="2000" dirty="0"/>
              <a:t>，因此需要多次重複這個隨機生成與弛豫的過程，才能有較高的機率找到全域的能量最低點，也就是最穩定的結構 。</a:t>
            </a:r>
          </a:p>
          <a:p>
            <a:pPr marL="0" indent="0">
              <a:buNone/>
            </a:pPr>
            <a:endParaRPr lang="zh-TW" altLang="en-US" sz="2000" dirty="0"/>
          </a:p>
        </p:txBody>
      </p:sp>
      <p:pic>
        <p:nvPicPr>
          <p:cNvPr id="8" name="圖片 7">
            <a:extLst>
              <a:ext uri="{FF2B5EF4-FFF2-40B4-BE49-F238E27FC236}">
                <a16:creationId xmlns:a16="http://schemas.microsoft.com/office/drawing/2014/main" id="{6C94E2B1-DBA6-E092-479F-693AC326ECE4}"/>
              </a:ext>
            </a:extLst>
          </p:cNvPr>
          <p:cNvPicPr>
            <a:picLocks noChangeAspect="1"/>
          </p:cNvPicPr>
          <p:nvPr/>
        </p:nvPicPr>
        <p:blipFill>
          <a:blip r:embed="rId2"/>
          <a:stretch>
            <a:fillRect/>
          </a:stretch>
        </p:blipFill>
        <p:spPr>
          <a:xfrm>
            <a:off x="7096673" y="2200103"/>
            <a:ext cx="4972744" cy="2457793"/>
          </a:xfrm>
          <a:prstGeom prst="rect">
            <a:avLst/>
          </a:prstGeom>
        </p:spPr>
      </p:pic>
    </p:spTree>
    <p:extLst>
      <p:ext uri="{BB962C8B-B14F-4D97-AF65-F5344CB8AC3E}">
        <p14:creationId xmlns:p14="http://schemas.microsoft.com/office/powerpoint/2010/main" val="2951782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995B9E-24C0-48F4-DEE8-C841FFF1546E}"/>
              </a:ext>
            </a:extLst>
          </p:cNvPr>
          <p:cNvSpPr>
            <a:spLocks noGrp="1"/>
          </p:cNvSpPr>
          <p:nvPr>
            <p:ph type="title"/>
          </p:nvPr>
        </p:nvSpPr>
        <p:spPr>
          <a:xfrm>
            <a:off x="838200" y="0"/>
            <a:ext cx="10515600" cy="1325563"/>
          </a:xfrm>
        </p:spPr>
        <p:txBody>
          <a:bodyPr/>
          <a:lstStyle/>
          <a:p>
            <a:r>
              <a:rPr lang="en-US" altLang="zh-TW" dirty="0" err="1"/>
              <a:t>GNoME</a:t>
            </a:r>
            <a:r>
              <a:rPr lang="en-US" altLang="zh-TW" dirty="0"/>
              <a:t> </a:t>
            </a:r>
            <a:r>
              <a:rPr lang="zh-TW" altLang="en-US" dirty="0"/>
              <a:t>主動學習框架</a:t>
            </a:r>
            <a:r>
              <a:rPr lang="en-US" altLang="zh-TW" dirty="0"/>
              <a:t>-SAPS</a:t>
            </a:r>
            <a:endParaRPr lang="zh-TW" altLang="en-US" dirty="0"/>
          </a:p>
        </p:txBody>
      </p:sp>
      <p:pic>
        <p:nvPicPr>
          <p:cNvPr id="7" name="內容版面配置區 6" descr="一張含有 螢幕擷取畫面, 鮮豔, 藝術, 蠟燭 的圖片&#10;&#10;自動產生的描述">
            <a:extLst>
              <a:ext uri="{FF2B5EF4-FFF2-40B4-BE49-F238E27FC236}">
                <a16:creationId xmlns:a16="http://schemas.microsoft.com/office/drawing/2014/main" id="{C6C8FD93-BA4F-A5B2-5218-455CD1312FFC}"/>
              </a:ext>
            </a:extLst>
          </p:cNvPr>
          <p:cNvPicPr preferRelativeResize="0">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8592000" y="0"/>
            <a:ext cx="3600000" cy="3600000"/>
          </a:xfrm>
        </p:spPr>
      </p:pic>
      <p:pic>
        <p:nvPicPr>
          <p:cNvPr id="9" name="圖片 8" descr="一張含有 螢幕擷取畫面, 鮮豔, 圖形, 藝術 的圖片&#10;&#10;自動產生的描述">
            <a:extLst>
              <a:ext uri="{FF2B5EF4-FFF2-40B4-BE49-F238E27FC236}">
                <a16:creationId xmlns:a16="http://schemas.microsoft.com/office/drawing/2014/main" id="{A2085DD0-1449-053F-2EB2-B3E4C3240473}"/>
              </a:ext>
            </a:extLst>
          </p:cNvPr>
          <p:cNvPicPr preferRelativeResize="0">
            <a:picLocks/>
          </p:cNvPicPr>
          <p:nvPr/>
        </p:nvPicPr>
        <p:blipFill>
          <a:blip r:embed="rId3">
            <a:extLst>
              <a:ext uri="{28A0092B-C50C-407E-A947-70E740481C1C}">
                <a14:useLocalDpi xmlns:a14="http://schemas.microsoft.com/office/drawing/2010/main" val="0"/>
              </a:ext>
            </a:extLst>
          </a:blip>
          <a:stretch>
            <a:fillRect/>
          </a:stretch>
        </p:blipFill>
        <p:spPr>
          <a:xfrm>
            <a:off x="8592000" y="3258000"/>
            <a:ext cx="3600000" cy="3600000"/>
          </a:xfrm>
          <a:prstGeom prst="rect">
            <a:avLst/>
          </a:prstGeom>
        </p:spPr>
      </p:pic>
      <p:sp>
        <p:nvSpPr>
          <p:cNvPr id="10" name="文字方塊 9">
            <a:extLst>
              <a:ext uri="{FF2B5EF4-FFF2-40B4-BE49-F238E27FC236}">
                <a16:creationId xmlns:a16="http://schemas.microsoft.com/office/drawing/2014/main" id="{583F4136-CC27-561D-A61E-C504C6D54F88}"/>
              </a:ext>
            </a:extLst>
          </p:cNvPr>
          <p:cNvSpPr txBox="1"/>
          <p:nvPr/>
        </p:nvSpPr>
        <p:spPr>
          <a:xfrm>
            <a:off x="9663130" y="5950227"/>
            <a:ext cx="1457739" cy="646331"/>
          </a:xfrm>
          <a:prstGeom prst="rect">
            <a:avLst/>
          </a:prstGeom>
          <a:noFill/>
        </p:spPr>
        <p:txBody>
          <a:bodyPr wrap="square" rtlCol="0">
            <a:spAutoFit/>
          </a:bodyPr>
          <a:lstStyle/>
          <a:p>
            <a:pPr algn="ctr"/>
            <a:r>
              <a:rPr lang="en-US" altLang="zh-TW" b="1" i="0" dirty="0" err="1">
                <a:solidFill>
                  <a:srgbClr val="363636"/>
                </a:solidFill>
                <a:effectLst/>
                <a:latin typeface="BlinkMacSystemFont"/>
              </a:rPr>
              <a:t>CoO</a:t>
            </a:r>
            <a:r>
              <a:rPr lang="en-US" altLang="zh-TW" b="1" i="0" dirty="0">
                <a:solidFill>
                  <a:srgbClr val="363636"/>
                </a:solidFill>
                <a:effectLst/>
                <a:latin typeface="BlinkMacSystemFont"/>
              </a:rPr>
              <a:t>₂</a:t>
            </a:r>
          </a:p>
          <a:p>
            <a:pPr algn="ctr"/>
            <a:r>
              <a:rPr lang="en-US" altLang="zh-TW" b="0" i="0" dirty="0">
                <a:solidFill>
                  <a:srgbClr val="4A4A4A"/>
                </a:solidFill>
                <a:effectLst/>
                <a:latin typeface="BlinkMacSystemFont"/>
              </a:rPr>
              <a:t>mp-754748</a:t>
            </a:r>
          </a:p>
        </p:txBody>
      </p:sp>
      <p:sp>
        <p:nvSpPr>
          <p:cNvPr id="11" name="文字方塊 10">
            <a:extLst>
              <a:ext uri="{FF2B5EF4-FFF2-40B4-BE49-F238E27FC236}">
                <a16:creationId xmlns:a16="http://schemas.microsoft.com/office/drawing/2014/main" id="{E7FFCD1B-818D-5B08-8A4D-1C0A21EB2EFF}"/>
              </a:ext>
            </a:extLst>
          </p:cNvPr>
          <p:cNvSpPr txBox="1"/>
          <p:nvPr/>
        </p:nvSpPr>
        <p:spPr>
          <a:xfrm>
            <a:off x="9663129" y="3294131"/>
            <a:ext cx="1457739" cy="646331"/>
          </a:xfrm>
          <a:prstGeom prst="rect">
            <a:avLst/>
          </a:prstGeom>
          <a:noFill/>
        </p:spPr>
        <p:txBody>
          <a:bodyPr wrap="square" rtlCol="0">
            <a:spAutoFit/>
          </a:bodyPr>
          <a:lstStyle/>
          <a:p>
            <a:pPr algn="ctr"/>
            <a:r>
              <a:rPr lang="en-US" altLang="zh-TW" b="1" i="0" dirty="0" err="1">
                <a:solidFill>
                  <a:srgbClr val="363636"/>
                </a:solidFill>
                <a:effectLst/>
                <a:latin typeface="BlinkMacSystemFont"/>
              </a:rPr>
              <a:t>CoO</a:t>
            </a:r>
            <a:r>
              <a:rPr lang="en-US" altLang="zh-TW" b="1" i="0" dirty="0">
                <a:solidFill>
                  <a:srgbClr val="363636"/>
                </a:solidFill>
                <a:effectLst/>
                <a:latin typeface="BlinkMacSystemFont"/>
              </a:rPr>
              <a:t>₂</a:t>
            </a:r>
          </a:p>
          <a:p>
            <a:pPr algn="ctr"/>
            <a:r>
              <a:rPr lang="en-US" altLang="zh-TW" b="0" i="0" dirty="0">
                <a:solidFill>
                  <a:srgbClr val="4A4A4A"/>
                </a:solidFill>
                <a:effectLst/>
                <a:latin typeface="BlinkMacSystemFont"/>
              </a:rPr>
              <a:t>mp-1400906</a:t>
            </a:r>
          </a:p>
        </p:txBody>
      </p:sp>
      <p:sp>
        <p:nvSpPr>
          <p:cNvPr id="12" name="內容版面配置區 2">
            <a:extLst>
              <a:ext uri="{FF2B5EF4-FFF2-40B4-BE49-F238E27FC236}">
                <a16:creationId xmlns:a16="http://schemas.microsoft.com/office/drawing/2014/main" id="{F5F5A320-8538-72A1-6032-08642CE6D55A}"/>
              </a:ext>
            </a:extLst>
          </p:cNvPr>
          <p:cNvSpPr txBox="1">
            <a:spLocks/>
          </p:cNvSpPr>
          <p:nvPr/>
        </p:nvSpPr>
        <p:spPr>
          <a:xfrm>
            <a:off x="122582" y="1253330"/>
            <a:ext cx="8702347" cy="51872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altLang="zh-TW" sz="2000" dirty="0"/>
              <a:t>SAPS</a:t>
            </a:r>
            <a:r>
              <a:rPr lang="zh-TW" altLang="en-US" sz="2000" dirty="0"/>
              <a:t>對稱感知部分取代 </a:t>
            </a:r>
            <a:r>
              <a:rPr lang="en-US" altLang="zh-TW" sz="2000" dirty="0"/>
              <a:t>(Symmetry-Aware Partial Substitutions)</a:t>
            </a:r>
            <a:br>
              <a:rPr lang="en-US" altLang="zh-TW" sz="2000" dirty="0"/>
            </a:br>
            <a:r>
              <a:rPr lang="en-US" altLang="zh-TW" sz="2000" dirty="0"/>
              <a:t> </a:t>
            </a:r>
            <a:r>
              <a:rPr lang="zh-TW" altLang="en-US" sz="2000" dirty="0"/>
              <a:t>主要功能是在一個已知的晶體結構中，只部分地</a:t>
            </a:r>
            <a:r>
              <a:rPr lang="zh-TW" altLang="en-US" sz="2000" dirty="0">
                <a:solidFill>
                  <a:srgbClr val="FF0000"/>
                </a:solidFill>
              </a:rPr>
              <a:t>取代其中一種或多種原子</a:t>
            </a:r>
            <a:r>
              <a:rPr lang="zh-TW" altLang="en-US" sz="2000" dirty="0"/>
              <a:t>，而不是將該位置的所有原子全部換掉 。</a:t>
            </a:r>
          </a:p>
          <a:p>
            <a:pPr marL="0" indent="0">
              <a:lnSpc>
                <a:spcPct val="120000"/>
              </a:lnSpc>
              <a:buFont typeface="Arial" panose="020B0604020202020204" pitchFamily="34" charset="0"/>
              <a:buNone/>
            </a:pPr>
            <a:r>
              <a:rPr lang="zh-TW" altLang="en-US" sz="2000" dirty="0"/>
              <a:t>運作方式：</a:t>
            </a:r>
          </a:p>
          <a:p>
            <a:pPr marL="0" indent="0">
              <a:lnSpc>
                <a:spcPct val="120000"/>
              </a:lnSpc>
              <a:buFont typeface="Arial" panose="020B0604020202020204" pitchFamily="34" charset="0"/>
              <a:buNone/>
            </a:pPr>
            <a:r>
              <a:rPr lang="zh-TW" altLang="en-US" sz="2000" dirty="0"/>
              <a:t>它首先會分析輸入晶體結構的</a:t>
            </a:r>
            <a:r>
              <a:rPr lang="zh-TW" altLang="en-US" sz="2000" dirty="0">
                <a:solidFill>
                  <a:srgbClr val="FF0000"/>
                </a:solidFill>
              </a:rPr>
              <a:t>對稱性</a:t>
            </a:r>
            <a:r>
              <a:rPr lang="zh-TW" altLang="en-US" sz="2000" dirty="0"/>
              <a:t>，找出哪些原子位置是等效的（即 </a:t>
            </a:r>
            <a:r>
              <a:rPr lang="en-US" altLang="zh-TW" sz="2000" dirty="0"/>
              <a:t>Wyckoff positions</a:t>
            </a:r>
            <a:r>
              <a:rPr lang="zh-TW" altLang="en-US" sz="2000" dirty="0"/>
              <a:t>）。</a:t>
            </a:r>
            <a:r>
              <a:rPr lang="en-US" altLang="zh-TW" dirty="0"/>
              <a:t>Ex.</a:t>
            </a:r>
            <a:r>
              <a:rPr lang="en-US" altLang="zh-TW" sz="1800" dirty="0"/>
              <a:t> A₂B₂X₆ → A₂BB'X₆</a:t>
            </a:r>
            <a:endParaRPr lang="zh-TW" altLang="en-US" dirty="0"/>
          </a:p>
          <a:p>
            <a:pPr marL="0" indent="0">
              <a:lnSpc>
                <a:spcPct val="120000"/>
              </a:lnSpc>
              <a:buFont typeface="Arial" panose="020B0604020202020204" pitchFamily="34" charset="0"/>
              <a:buNone/>
            </a:pPr>
            <a:r>
              <a:rPr lang="zh-TW" altLang="en-US" sz="2000" dirty="0"/>
              <a:t>透過只考慮獨特的對稱分組，</a:t>
            </a:r>
            <a:r>
              <a:rPr lang="en-US" altLang="zh-TW" sz="2000" dirty="0"/>
              <a:t>SAPS </a:t>
            </a:r>
            <a:r>
              <a:rPr lang="zh-TW" altLang="en-US" sz="2000" dirty="0"/>
              <a:t>能有效率地探索各種可能性，同時避免因組合過多而導致的計算爆炸 。</a:t>
            </a:r>
          </a:p>
          <a:p>
            <a:pPr marL="0" indent="0">
              <a:lnSpc>
                <a:spcPct val="120000"/>
              </a:lnSpc>
              <a:buFont typeface="Arial" panose="020B0604020202020204" pitchFamily="34" charset="0"/>
              <a:buNone/>
            </a:pPr>
            <a:r>
              <a:rPr lang="zh-TW" altLang="en-US" sz="2000" dirty="0"/>
              <a:t>目的與重要性：極大地增加了候選材料的多樣性，並且成效卓著，在本次研究發現的 </a:t>
            </a:r>
            <a:r>
              <a:rPr lang="en-US" altLang="zh-TW" sz="2000" dirty="0">
                <a:solidFill>
                  <a:srgbClr val="FF0000"/>
                </a:solidFill>
              </a:rPr>
              <a:t>381,000 </a:t>
            </a:r>
            <a:r>
              <a:rPr lang="zh-TW" altLang="en-US" sz="2000" dirty="0">
                <a:solidFill>
                  <a:srgbClr val="FF0000"/>
                </a:solidFill>
              </a:rPr>
              <a:t>個新穩定結構</a:t>
            </a:r>
            <a:r>
              <a:rPr lang="zh-TW" altLang="en-US" sz="2000" dirty="0"/>
              <a:t>中，</a:t>
            </a:r>
            <a:r>
              <a:rPr lang="zh-TW" altLang="en-US" sz="2000" dirty="0">
                <a:solidFill>
                  <a:srgbClr val="FF0000"/>
                </a:solidFill>
              </a:rPr>
              <a:t>有高達 </a:t>
            </a:r>
            <a:r>
              <a:rPr lang="en-US" altLang="zh-TW" sz="2000" dirty="0">
                <a:solidFill>
                  <a:srgbClr val="FF0000"/>
                </a:solidFill>
              </a:rPr>
              <a:t>232,477 </a:t>
            </a:r>
            <a:r>
              <a:rPr lang="zh-TW" altLang="en-US" sz="2000" dirty="0">
                <a:solidFill>
                  <a:srgbClr val="FF0000"/>
                </a:solidFill>
              </a:rPr>
              <a:t>個可歸因於 </a:t>
            </a:r>
            <a:r>
              <a:rPr lang="en-US" altLang="zh-TW" sz="2000" dirty="0">
                <a:solidFill>
                  <a:srgbClr val="FF0000"/>
                </a:solidFill>
              </a:rPr>
              <a:t>SAPS </a:t>
            </a:r>
            <a:r>
              <a:rPr lang="zh-TW" altLang="en-US" sz="2000" dirty="0">
                <a:solidFill>
                  <a:srgbClr val="FF0000"/>
                </a:solidFill>
              </a:rPr>
              <a:t>的貢獻 。</a:t>
            </a:r>
            <a:r>
              <a:rPr lang="en-US" altLang="zh-TW" sz="2000" dirty="0">
                <a:solidFill>
                  <a:srgbClr val="FF0000"/>
                </a:solidFill>
              </a:rPr>
              <a:t> </a:t>
            </a:r>
            <a:endParaRPr lang="zh-TW" altLang="en-US" sz="3200" dirty="0">
              <a:solidFill>
                <a:srgbClr val="FF0000"/>
              </a:solidFill>
            </a:endParaRPr>
          </a:p>
        </p:txBody>
      </p:sp>
    </p:spTree>
    <p:extLst>
      <p:ext uri="{BB962C8B-B14F-4D97-AF65-F5344CB8AC3E}">
        <p14:creationId xmlns:p14="http://schemas.microsoft.com/office/powerpoint/2010/main" val="2547705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804E4E-C308-C8AB-D403-806C582C9389}"/>
              </a:ext>
            </a:extLst>
          </p:cNvPr>
          <p:cNvSpPr>
            <a:spLocks noGrp="1"/>
          </p:cNvSpPr>
          <p:nvPr>
            <p:ph type="title"/>
          </p:nvPr>
        </p:nvSpPr>
        <p:spPr>
          <a:xfrm>
            <a:off x="357809" y="18255"/>
            <a:ext cx="11714921" cy="1325563"/>
          </a:xfrm>
        </p:spPr>
        <p:txBody>
          <a:bodyPr>
            <a:normAutofit/>
          </a:bodyPr>
          <a:lstStyle/>
          <a:p>
            <a:r>
              <a:rPr lang="en-US" altLang="zh-TW" dirty="0" err="1"/>
              <a:t>GNoME</a:t>
            </a:r>
            <a:r>
              <a:rPr lang="en-US" altLang="zh-TW" dirty="0"/>
              <a:t> </a:t>
            </a:r>
            <a:r>
              <a:rPr lang="zh-TW" altLang="en-US" dirty="0"/>
              <a:t>主動學習框架</a:t>
            </a:r>
            <a:r>
              <a:rPr lang="en-US" altLang="zh-TW" dirty="0"/>
              <a:t>-</a:t>
            </a:r>
            <a:r>
              <a:rPr lang="zh-TW" altLang="en-US" dirty="0"/>
              <a:t>主動學習</a:t>
            </a:r>
            <a:r>
              <a:rPr lang="en-US" altLang="zh-TW" dirty="0"/>
              <a:t>(</a:t>
            </a:r>
            <a:r>
              <a:rPr lang="en-US" altLang="zh-TW" b="1" i="0" dirty="0">
                <a:solidFill>
                  <a:srgbClr val="222226"/>
                </a:solidFill>
                <a:effectLst/>
                <a:latin typeface="PingFang SC"/>
              </a:rPr>
              <a:t>Active Learning</a:t>
            </a:r>
            <a:r>
              <a:rPr lang="en-US" altLang="zh-TW" dirty="0"/>
              <a:t>)</a:t>
            </a:r>
            <a:endParaRPr lang="zh-TW" altLang="en-US" dirty="0"/>
          </a:p>
        </p:txBody>
      </p:sp>
      <p:sp>
        <p:nvSpPr>
          <p:cNvPr id="3" name="內容版面配置區 2">
            <a:extLst>
              <a:ext uri="{FF2B5EF4-FFF2-40B4-BE49-F238E27FC236}">
                <a16:creationId xmlns:a16="http://schemas.microsoft.com/office/drawing/2014/main" id="{34B67F0E-11BA-CE87-19DE-39C533ECCD52}"/>
              </a:ext>
            </a:extLst>
          </p:cNvPr>
          <p:cNvSpPr>
            <a:spLocks noGrp="1"/>
          </p:cNvSpPr>
          <p:nvPr>
            <p:ph idx="1"/>
          </p:nvPr>
        </p:nvSpPr>
        <p:spPr>
          <a:xfrm>
            <a:off x="838200" y="1062762"/>
            <a:ext cx="10515600" cy="4732476"/>
          </a:xfrm>
        </p:spPr>
        <p:txBody>
          <a:bodyPr>
            <a:normAutofit/>
          </a:bodyPr>
          <a:lstStyle/>
          <a:p>
            <a:pPr marL="0" indent="0">
              <a:lnSpc>
                <a:spcPct val="100000"/>
              </a:lnSpc>
              <a:buNone/>
            </a:pPr>
            <a:r>
              <a:rPr lang="en-US" altLang="zh-TW" sz="2000" dirty="0" err="1"/>
              <a:t>GNoME</a:t>
            </a:r>
            <a:r>
              <a:rPr lang="en-US" altLang="zh-TW" sz="2000" dirty="0"/>
              <a:t> </a:t>
            </a:r>
            <a:r>
              <a:rPr lang="zh-TW" altLang="en-US" sz="2000" dirty="0"/>
              <a:t>的主動學習框架是一個循環優化的過程。首先，由 </a:t>
            </a:r>
            <a:r>
              <a:rPr lang="en-US" altLang="zh-TW" sz="2000" dirty="0"/>
              <a:t>AIRSS </a:t>
            </a:r>
            <a:r>
              <a:rPr lang="zh-TW" altLang="en-US" sz="2000" dirty="0"/>
              <a:t>和 </a:t>
            </a:r>
            <a:r>
              <a:rPr lang="en-US" altLang="zh-TW" sz="2000" dirty="0"/>
              <a:t>SAPS </a:t>
            </a:r>
            <a:r>
              <a:rPr lang="zh-TW" altLang="en-US" sz="2000" dirty="0"/>
              <a:t>產生的候選材料會由 </a:t>
            </a:r>
            <a:r>
              <a:rPr lang="en-US" altLang="zh-TW" sz="2000" dirty="0"/>
              <a:t>GNN </a:t>
            </a:r>
            <a:r>
              <a:rPr lang="zh-TW" altLang="en-US" sz="2000" dirty="0"/>
              <a:t>模型進行快速篩選，以過濾掉最沒有潛力的結構 。接著，通過篩選的候選者會交由高精度的 </a:t>
            </a:r>
            <a:r>
              <a:rPr lang="en-US" altLang="zh-TW" sz="2000" dirty="0"/>
              <a:t>DFT </a:t>
            </a:r>
            <a:r>
              <a:rPr lang="zh-TW" altLang="en-US" sz="2000" dirty="0"/>
              <a:t>進行計算驗證，以獲得其真實的穩定性 。這些經由 </a:t>
            </a:r>
            <a:r>
              <a:rPr lang="en-US" altLang="zh-TW" sz="2000" dirty="0"/>
              <a:t>DFT </a:t>
            </a:r>
            <a:r>
              <a:rPr lang="zh-TW" altLang="en-US" sz="2000" dirty="0"/>
              <a:t>驗證的新數據，不僅會被用來重新訓練、強化下一代 </a:t>
            </a:r>
            <a:r>
              <a:rPr lang="en-US" altLang="zh-TW" sz="2000" dirty="0"/>
              <a:t>GNN </a:t>
            </a:r>
            <a:r>
              <a:rPr lang="zh-TW" altLang="en-US" sz="2000" dirty="0"/>
              <a:t>模型的預測能力 ，其中被證實為穩定的新結構還會成為下一輪材料生成的基礎，形成一個強大的「資料飛輪 </a:t>
            </a:r>
            <a:r>
              <a:rPr lang="en-US" altLang="zh-TW" sz="2000" dirty="0"/>
              <a:t>(data flywheel)</a:t>
            </a:r>
            <a:r>
              <a:rPr lang="zh-TW" altLang="en-US" sz="2000" dirty="0"/>
              <a:t>」 。整個過程總共重複執行了 </a:t>
            </a:r>
            <a:r>
              <a:rPr lang="en-US" altLang="zh-TW" sz="2000" dirty="0"/>
              <a:t>6 </a:t>
            </a:r>
            <a:r>
              <a:rPr lang="zh-TW" altLang="en-US" sz="2000" dirty="0"/>
              <a:t>次，使模型的性能和探索效率持續提升 。</a:t>
            </a:r>
          </a:p>
        </p:txBody>
      </p:sp>
      <p:pic>
        <p:nvPicPr>
          <p:cNvPr id="6147" name="Picture 3">
            <a:extLst>
              <a:ext uri="{FF2B5EF4-FFF2-40B4-BE49-F238E27FC236}">
                <a16:creationId xmlns:a16="http://schemas.microsoft.com/office/drawing/2014/main" id="{3F3C3711-7DF4-0E30-9256-8738CA91A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088" y="2954820"/>
            <a:ext cx="7646504" cy="3775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085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F81E40-4BA6-FE84-5649-80088C26A9A1}"/>
              </a:ext>
            </a:extLst>
          </p:cNvPr>
          <p:cNvSpPr>
            <a:spLocks noGrp="1"/>
          </p:cNvSpPr>
          <p:nvPr>
            <p:ph type="title"/>
          </p:nvPr>
        </p:nvSpPr>
        <p:spPr>
          <a:xfrm>
            <a:off x="1146313" y="18255"/>
            <a:ext cx="9899374" cy="1325563"/>
          </a:xfrm>
        </p:spPr>
        <p:txBody>
          <a:bodyPr/>
          <a:lstStyle/>
          <a:p>
            <a:r>
              <a:rPr lang="en-US" altLang="zh-TW" dirty="0" err="1"/>
              <a:t>GNoME</a:t>
            </a:r>
            <a:r>
              <a:rPr lang="en-US" altLang="zh-TW" dirty="0"/>
              <a:t> </a:t>
            </a:r>
            <a:r>
              <a:rPr lang="zh-TW" altLang="en-US" dirty="0"/>
              <a:t>主動學習框架</a:t>
            </a:r>
            <a:r>
              <a:rPr lang="en-US" altLang="zh-TW" dirty="0"/>
              <a:t>-</a:t>
            </a:r>
            <a:r>
              <a:rPr lang="zh-TW" altLang="en-US" dirty="0"/>
              <a:t>最後驗證</a:t>
            </a:r>
          </a:p>
        </p:txBody>
      </p:sp>
      <p:sp>
        <p:nvSpPr>
          <p:cNvPr id="3" name="內容版面配置區 2">
            <a:extLst>
              <a:ext uri="{FF2B5EF4-FFF2-40B4-BE49-F238E27FC236}">
                <a16:creationId xmlns:a16="http://schemas.microsoft.com/office/drawing/2014/main" id="{C2679C1B-AACC-D13B-B207-BA3048FBF6FC}"/>
              </a:ext>
            </a:extLst>
          </p:cNvPr>
          <p:cNvSpPr>
            <a:spLocks noGrp="1"/>
          </p:cNvSpPr>
          <p:nvPr>
            <p:ph idx="1"/>
          </p:nvPr>
        </p:nvSpPr>
        <p:spPr>
          <a:xfrm>
            <a:off x="838200" y="1083504"/>
            <a:ext cx="10515600" cy="4351338"/>
          </a:xfrm>
        </p:spPr>
        <p:txBody>
          <a:bodyPr>
            <a:normAutofit/>
          </a:bodyPr>
          <a:lstStyle/>
          <a:p>
            <a:pPr marL="0" indent="0">
              <a:lnSpc>
                <a:spcPct val="120000"/>
              </a:lnSpc>
              <a:buNone/>
            </a:pPr>
            <a:r>
              <a:rPr lang="en-US" altLang="zh-TW" sz="2000" dirty="0"/>
              <a:t>1.</a:t>
            </a:r>
            <a:r>
              <a:rPr lang="zh-TW" altLang="en-US" sz="2000" dirty="0"/>
              <a:t>高精度計算驗證 </a:t>
            </a:r>
            <a:r>
              <a:rPr lang="en-US" altLang="zh-TW" sz="2000" dirty="0"/>
              <a:t>(Computational Validation):</a:t>
            </a:r>
          </a:p>
          <a:p>
            <a:pPr marL="0" indent="0">
              <a:lnSpc>
                <a:spcPct val="120000"/>
              </a:lnSpc>
              <a:buNone/>
            </a:pPr>
            <a:r>
              <a:rPr lang="zh-TW" altLang="en-US" sz="2000" dirty="0"/>
              <a:t>研究團隊從 </a:t>
            </a:r>
            <a:r>
              <a:rPr lang="en-US" altLang="zh-TW" sz="2000" dirty="0" err="1"/>
              <a:t>GNoME</a:t>
            </a:r>
            <a:r>
              <a:rPr lang="en-US" altLang="zh-TW" sz="2000" dirty="0"/>
              <a:t> </a:t>
            </a:r>
            <a:r>
              <a:rPr lang="zh-TW" altLang="en-US" sz="2000" dirty="0"/>
              <a:t>發現的材料中抽樣，使用比大規模探索時更精確、計算成本也更高的 </a:t>
            </a:r>
            <a:r>
              <a:rPr lang="en-US" altLang="zh-TW" sz="2000" dirty="0">
                <a:solidFill>
                  <a:srgbClr val="FF0000"/>
                </a:solidFill>
              </a:rPr>
              <a:t>r²SCAN</a:t>
            </a:r>
            <a:r>
              <a:rPr lang="en-US" altLang="zh-TW" sz="2000" dirty="0"/>
              <a:t> </a:t>
            </a:r>
            <a:r>
              <a:rPr lang="zh-TW" altLang="en-US" sz="2000" dirty="0"/>
              <a:t>泛函進行重新計算 。結果顯示，高達 </a:t>
            </a:r>
            <a:r>
              <a:rPr lang="en-US" altLang="zh-TW" sz="2000" dirty="0"/>
              <a:t>84% </a:t>
            </a:r>
            <a:r>
              <a:rPr lang="zh-TW" altLang="en-US" sz="2000" dirty="0"/>
              <a:t>的材料在更嚴格的計算標準下依然保持穩定，這證明了研究成果在計算上是穩健可靠的 。</a:t>
            </a:r>
          </a:p>
          <a:p>
            <a:pPr marL="0" indent="0">
              <a:lnSpc>
                <a:spcPct val="120000"/>
              </a:lnSpc>
              <a:buNone/>
            </a:pPr>
            <a:r>
              <a:rPr lang="en-US" altLang="zh-TW" sz="2000" dirty="0"/>
              <a:t>2. </a:t>
            </a:r>
            <a:r>
              <a:rPr lang="zh-TW" altLang="en-US" sz="2000" dirty="0"/>
              <a:t>與真實實驗比對 </a:t>
            </a:r>
            <a:r>
              <a:rPr lang="en-US" altLang="zh-TW" sz="2000" dirty="0"/>
              <a:t>(Experimental Validation):</a:t>
            </a:r>
          </a:p>
          <a:p>
            <a:pPr marL="0" indent="0">
              <a:lnSpc>
                <a:spcPct val="120000"/>
              </a:lnSpc>
              <a:buNone/>
            </a:pPr>
            <a:r>
              <a:rPr lang="zh-TW" altLang="en-US" sz="2000" dirty="0"/>
              <a:t>研究團隊將 </a:t>
            </a:r>
            <a:r>
              <a:rPr lang="en-US" altLang="zh-TW" sz="2000" dirty="0" err="1"/>
              <a:t>GNoME</a:t>
            </a:r>
            <a:r>
              <a:rPr lang="en-US" altLang="zh-TW" sz="2000" dirty="0"/>
              <a:t> </a:t>
            </a:r>
            <a:r>
              <a:rPr lang="zh-TW" altLang="en-US" sz="2000" dirty="0"/>
              <a:t>發現的所有結構，與國際晶體結構資料庫 </a:t>
            </a:r>
            <a:r>
              <a:rPr lang="en-US" altLang="zh-TW" sz="2000" dirty="0"/>
              <a:t>(ICSD) </a:t>
            </a:r>
            <a:r>
              <a:rPr lang="zh-TW" altLang="en-US" sz="2000" dirty="0"/>
              <a:t>中已由實驗合成的真實材料進行比對 。結果發現，有 </a:t>
            </a:r>
            <a:r>
              <a:rPr lang="en-US" altLang="zh-TW" sz="2000" dirty="0"/>
              <a:t>736 </a:t>
            </a:r>
            <a:r>
              <a:rPr lang="zh-TW" altLang="en-US" sz="2000" dirty="0"/>
              <a:t>個 </a:t>
            </a:r>
            <a:r>
              <a:rPr lang="en-US" altLang="zh-TW" sz="2000" dirty="0" err="1"/>
              <a:t>GNoME</a:t>
            </a:r>
            <a:r>
              <a:rPr lang="en-US" altLang="zh-TW" sz="2000" dirty="0"/>
              <a:t> </a:t>
            </a:r>
            <a:r>
              <a:rPr lang="zh-TW" altLang="en-US" sz="2000" dirty="0"/>
              <a:t>預測的結構，與近年來被獨立合成出來的真實材料完全匹配，這為計算發現提供了強而有力的真實世界佐證 。</a:t>
            </a:r>
          </a:p>
        </p:txBody>
      </p:sp>
      <p:pic>
        <p:nvPicPr>
          <p:cNvPr id="7171" name="Picture 3">
            <a:extLst>
              <a:ext uri="{FF2B5EF4-FFF2-40B4-BE49-F238E27FC236}">
                <a16:creationId xmlns:a16="http://schemas.microsoft.com/office/drawing/2014/main" id="{019C8940-459E-8BCC-8CD5-E52CF81D1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9185" y="4762500"/>
            <a:ext cx="9993630" cy="163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250041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1478</Words>
  <Application>Microsoft Office PowerPoint</Application>
  <PresentationFormat>寬螢幕</PresentationFormat>
  <Paragraphs>67</Paragraphs>
  <Slides>10</Slides>
  <Notes>2</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10</vt:i4>
      </vt:variant>
    </vt:vector>
  </HeadingPairs>
  <TitlesOfParts>
    <vt:vector size="18" baseType="lpstr">
      <vt:lpstr>BlinkMacSystemFont</vt:lpstr>
      <vt:lpstr>PingFang SC</vt:lpstr>
      <vt:lpstr>Aptos</vt:lpstr>
      <vt:lpstr>Aptos Display</vt:lpstr>
      <vt:lpstr>Arial</vt:lpstr>
      <vt:lpstr>Helvetica</vt:lpstr>
      <vt:lpstr>Roboto</vt:lpstr>
      <vt:lpstr>Office 佈景主題</vt:lpstr>
      <vt:lpstr>Scaling deep learning for materials discovery GNoME</vt:lpstr>
      <vt:lpstr>目錄</vt:lpstr>
      <vt:lpstr>挑戰與突破</vt:lpstr>
      <vt:lpstr>挑戰與突破</vt:lpstr>
      <vt:lpstr>GNoME 主動學習框架</vt:lpstr>
      <vt:lpstr>GNoME 主動學習框架-GNN訓練</vt:lpstr>
      <vt:lpstr>GNoME 主動學習框架-AIRSS</vt:lpstr>
      <vt:lpstr>GNoME 主動學習框架-SAPS</vt:lpstr>
      <vt:lpstr>GNoME 主動學習框架-主動學習(Active Learning)</vt:lpstr>
      <vt:lpstr>GNoME 主動學習框架-最後驗證</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陳柏均</dc:creator>
  <cp:lastModifiedBy>陳柏均</cp:lastModifiedBy>
  <cp:revision>15</cp:revision>
  <dcterms:created xsi:type="dcterms:W3CDTF">2025-09-22T06:21:53Z</dcterms:created>
  <dcterms:modified xsi:type="dcterms:W3CDTF">2025-09-22T08:13:42Z</dcterms:modified>
</cp:coreProperties>
</file>